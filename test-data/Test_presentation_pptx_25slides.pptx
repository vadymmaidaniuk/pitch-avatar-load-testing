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Hanken Grotesk Medium"/>
      <p:regular r:id="rId31"/>
      <p:bold r:id="rId32"/>
      <p:italic r:id="rId33"/>
      <p:boldItalic r:id="rId34"/>
    </p:embeddedFont>
    <p:embeddedFont>
      <p:font typeface="Neuton Light"/>
      <p:regular r:id="rId35"/>
      <p:bold r:id="rId36"/>
      <p:boldItalic r:id="rId37"/>
    </p:embeddedFont>
    <p:embeddedFont>
      <p:font typeface="Hanken Grotesk"/>
      <p:regular r:id="rId38"/>
      <p:bold r:id="rId39"/>
      <p:italic r:id="rId40"/>
      <p:boldItalic r:id="rId41"/>
    </p:embeddedFont>
    <p:embeddedFont>
      <p:font typeface="Hanken Grotesk SemiBold"/>
      <p:regular r:id="rId42"/>
      <p:bold r:id="rId43"/>
      <p:italic r:id="rId44"/>
      <p:boldItalic r:id="rId45"/>
    </p:embeddedFont>
    <p:embeddedFont>
      <p:font typeface="Neuton"/>
      <p:regular r:id="rId46"/>
      <p:bold r:id="rId47"/>
      <p:italic r:id="rId48"/>
    </p:embeddedFont>
    <p:embeddedFont>
      <p:font typeface="Hanken Grotesk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-italic.fntdata"/><Relationship Id="rId42" Type="http://schemas.openxmlformats.org/officeDocument/2006/relationships/font" Target="fonts/HankenGroteskSemiBold-regular.fntdata"/><Relationship Id="rId41" Type="http://schemas.openxmlformats.org/officeDocument/2006/relationships/font" Target="fonts/HankenGrotesk-boldItalic.fntdata"/><Relationship Id="rId44" Type="http://schemas.openxmlformats.org/officeDocument/2006/relationships/font" Target="fonts/HankenGroteskSemiBold-italic.fntdata"/><Relationship Id="rId43" Type="http://schemas.openxmlformats.org/officeDocument/2006/relationships/font" Target="fonts/HankenGroteskSemiBold-bold.fntdata"/><Relationship Id="rId46" Type="http://schemas.openxmlformats.org/officeDocument/2006/relationships/font" Target="fonts/Neuton-regular.fntdata"/><Relationship Id="rId45" Type="http://schemas.openxmlformats.org/officeDocument/2006/relationships/font" Target="fonts/HankenGrotesk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euton-italic.fntdata"/><Relationship Id="rId47" Type="http://schemas.openxmlformats.org/officeDocument/2006/relationships/font" Target="fonts/Neuton-bold.fntdata"/><Relationship Id="rId49" Type="http://schemas.openxmlformats.org/officeDocument/2006/relationships/font" Target="fonts/HankenGrotesk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ankenGroteskMedium-regular.fntdata"/><Relationship Id="rId30" Type="http://schemas.openxmlformats.org/officeDocument/2006/relationships/slide" Target="slides/slide25.xml"/><Relationship Id="rId33" Type="http://schemas.openxmlformats.org/officeDocument/2006/relationships/font" Target="fonts/HankenGroteskMedium-italic.fntdata"/><Relationship Id="rId32" Type="http://schemas.openxmlformats.org/officeDocument/2006/relationships/font" Target="fonts/HankenGroteskMedium-bold.fntdata"/><Relationship Id="rId35" Type="http://schemas.openxmlformats.org/officeDocument/2006/relationships/font" Target="fonts/NeutonLight-regular.fntdata"/><Relationship Id="rId34" Type="http://schemas.openxmlformats.org/officeDocument/2006/relationships/font" Target="fonts/HankenGroteskMedium-boldItalic.fntdata"/><Relationship Id="rId37" Type="http://schemas.openxmlformats.org/officeDocument/2006/relationships/font" Target="fonts/NeutonLight-boldItalic.fntdata"/><Relationship Id="rId36" Type="http://schemas.openxmlformats.org/officeDocument/2006/relationships/font" Target="fonts/NeutonLight-bold.fntdata"/><Relationship Id="rId39" Type="http://schemas.openxmlformats.org/officeDocument/2006/relationships/font" Target="fonts/HankenGrotesk-bold.fntdata"/><Relationship Id="rId38" Type="http://schemas.openxmlformats.org/officeDocument/2006/relationships/font" Target="fonts/HankenGrotesk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ankenGroteskLight-italic.fntdata"/><Relationship Id="rId50" Type="http://schemas.openxmlformats.org/officeDocument/2006/relationships/font" Target="fonts/HankenGroteskLight-bold.fntdata"/><Relationship Id="rId52" Type="http://schemas.openxmlformats.org/officeDocument/2006/relationships/font" Target="fonts/HankenGrotesk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" name="Google Shape;7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d155b4fdf8_0_321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3" name="Google Shape;9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d155b4fdf8_0_18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4" name="Google Shape;102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7" name="Google Shape;10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" name="Google Shape;11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d158458278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8" name="Google Shape;1148;g3d158458278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d158458278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8" name="Google Shape;1178;g3d158458278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d158458278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3d158458278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d158458278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8" name="Google Shape;1248;g3d158458278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d158458278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g3d158458278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3d158458278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2" name="Google Shape;1272;g3d158458278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d158458278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2" name="Google Shape;1302;g3d158458278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3d158458278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5" name="Google Shape;1335;g3d158458278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d158458278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2" name="Google Shape;1372;g3d158458278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3d158458278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4" name="Google Shape;1384;g3d158458278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252000" spcFirstLastPara="1" rIns="252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54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000" spcFirstLastPara="1" rIns="18000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7" name="Google Shape;337;p16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8" name="Google Shape;338;p16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9" name="Google Shape;339;p16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0" name="Google Shape;340;p16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1" name="Google Shape;341;p16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9" name="Google Shape;349;p17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0" name="Google Shape;350;p17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1" name="Google Shape;351;p17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59" name="Google Shape;359;p17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0" name="Google Shape;360;p17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1" name="Google Shape;361;p17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2" name="Google Shape;362;p17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3" name="Google Shape;363;p17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4" name="Google Shape;364;p17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5" name="Google Shape;365;p17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6" name="Google Shape;366;p17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17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8" name="Google Shape;368;p17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69" name="Google Shape;369;p17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0" name="Google Shape;370;p17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1" name="Google Shape;371;p17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2" name="Google Shape;372;p17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73" name="Google Shape;373;p17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74" name="Google Shape;374;p17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7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7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7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7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82" name="Google Shape;382;p18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3" name="Google Shape;383;p18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4" name="Google Shape;384;p18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5" name="Google Shape;385;p18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6" name="Google Shape;386;p18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7" name="Google Shape;387;p18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8" name="Google Shape;388;p18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89" name="Google Shape;389;p18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0" name="Google Shape;390;p18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1" name="Google Shape;391;p18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92" name="Google Shape;392;p18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18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18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5" name="Google Shape;395;p18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6" name="Google Shape;396;p18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7" name="Google Shape;397;p18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8" name="Google Shape;398;p18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99" name="Google Shape;399;p18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0" name="Google Shape;400;p18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1" name="Google Shape;401;p18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2" name="Google Shape;402;p18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403" name="Google Shape;403;p18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9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6" name="Google Shape;406;p19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7" name="Google Shape;407;p19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8" name="Google Shape;408;p19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9" name="Google Shape;409;p19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0" name="Google Shape;410;p19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1" name="Google Shape;411;p19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19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3" name="Google Shape;41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14" name="Google Shape;414;p19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15" name="Google Shape;415;p19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6" name="Google Shape;416;p19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7" name="Google Shape;417;p19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8" name="Google Shape;418;p19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19" name="Google Shape;419;p19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0" name="Google Shape;420;p19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1" name="Google Shape;421;p19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422" name="Google Shape;422;p19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5" name="Google Shape;42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26" name="Google Shape;426;p20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20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28" name="Google Shape;428;p20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20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3" name="Google Shape;433;p20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4" name="Google Shape;434;p20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37" name="Google Shape;437;p21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38" name="Google Shape;438;p21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9" name="Google Shape;439;p21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21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1" name="Google Shape;441;p21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2" name="Google Shape;442;p21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3" name="Google Shape;443;p21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4" name="Google Shape;444;p21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6" name="Google Shape;446;p21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7" name="Google Shape;447;p21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8" name="Google Shape;448;p21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9" name="Google Shape;449;p21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0" name="Google Shape;450;p21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1" name="Google Shape;451;p21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2" name="Google Shape;452;p21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3" name="Google Shape;453;p21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21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5" name="Google Shape;455;p21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8" name="Google Shape;458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62" name="Google Shape;462;p22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9" name="Google Shape;469;p22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0" name="Google Shape;470;p22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1" name="Google Shape;471;p22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72" name="Google Shape;472;p22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3" name="Google Shape;473;p22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4" name="Google Shape;474;p22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5" name="Google Shape;475;p22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6" name="Google Shape;476;p22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7" name="Google Shape;477;p22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0" name="Google Shape;480;p2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1" name="Google Shape;481;p2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82" name="Google Shape;482;p2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3" name="Google Shape;483;p2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84" name="Google Shape;484;p23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85" name="Google Shape;485;p23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87" name="Google Shape;487;p2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8" name="Google Shape;488;p2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3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0" name="Google Shape;490;p23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1" name="Google Shape;491;p23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2" name="Google Shape;492;p23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3" name="Google Shape;493;p23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4" name="Google Shape;494;p23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5" name="Google Shape;495;p23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6" name="Google Shape;496;p23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7" name="Google Shape;497;p23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8" name="Google Shape;498;p23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99" name="Google Shape;499;p23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500" name="Google Shape;500;p23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3" name="Google Shape;503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04" name="Google Shape;504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05" name="Google Shape;505;p24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24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9" name="Google Shape;509;p2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510" name="Google Shape;510;p2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/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b="0" i="0" sz="4400" u="none" cap="none" strike="noStrike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2.jpg"/><Relationship Id="rId7" Type="http://schemas.openxmlformats.org/officeDocument/2006/relationships/image" Target="../media/image11.jpg"/><Relationship Id="rId8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12.jpg"/><Relationship Id="rId5" Type="http://schemas.openxmlformats.org/officeDocument/2006/relationships/image" Target="../media/image3.jpg"/><Relationship Id="rId6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gif"/><Relationship Id="rId4" Type="http://schemas.openxmlformats.org/officeDocument/2006/relationships/image" Target="../media/image7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gif"/><Relationship Id="rId4" Type="http://schemas.openxmlformats.org/officeDocument/2006/relationships/image" Target="../media/image9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gif"/><Relationship Id="rId4" Type="http://schemas.openxmlformats.org/officeDocument/2006/relationships/image" Target="../media/image7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gif"/><Relationship Id="rId4" Type="http://schemas.openxmlformats.org/officeDocument/2006/relationships/image" Target="../media/image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gif"/><Relationship Id="rId4" Type="http://schemas.openxmlformats.org/officeDocument/2006/relationships/image" Target="../media/image7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gif"/><Relationship Id="rId4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7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0" name="Google Shape;620;p47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8000"/>
              <a:t>Strategic Growth Plan</a:t>
            </a:r>
            <a:endParaRPr/>
          </a:p>
        </p:txBody>
      </p:sp>
      <p:sp>
        <p:nvSpPr>
          <p:cNvPr id="621" name="Google Shape;621;p47"/>
          <p:cNvSpPr txBox="1"/>
          <p:nvPr>
            <p:ph idx="1" type="body"/>
          </p:nvPr>
        </p:nvSpPr>
        <p:spPr>
          <a:xfrm>
            <a:off x="974788" y="3870725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/>
              <a:t>Internal strategy deck for pilot stakeholders.</a:t>
            </a:r>
            <a:endParaRPr/>
          </a:p>
          <a:p>
            <a:pPr indent="-2873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anken Grotesk"/>
              <a:buChar char="●"/>
            </a:pPr>
            <a:r>
              <a:rPr lang="en"/>
              <a:t>All data in this presentation is fictional and prepared for product demo, upload validation, and RAG question-answer testing.</a:t>
            </a:r>
            <a:endParaRPr/>
          </a:p>
        </p:txBody>
      </p:sp>
      <p:sp>
        <p:nvSpPr>
          <p:cNvPr id="622" name="Google Shape;622;p47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Northstar Assist</a:t>
            </a:r>
            <a:endParaRPr/>
          </a:p>
        </p:txBody>
      </p:sp>
      <p:sp>
        <p:nvSpPr>
          <p:cNvPr id="623" name="Google Shape;623;p47"/>
          <p:cNvSpPr txBox="1"/>
          <p:nvPr>
            <p:ph idx="3" type="subTitle"/>
          </p:nvPr>
        </p:nvSpPr>
        <p:spPr>
          <a:xfrm>
            <a:off x="5539488" y="3934625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2026</a:t>
            </a:r>
            <a:endParaRPr/>
          </a:p>
        </p:txBody>
      </p:sp>
      <p:sp>
        <p:nvSpPr>
          <p:cNvPr id="624" name="Google Shape;624;p47"/>
          <p:cNvSpPr txBox="1"/>
          <p:nvPr>
            <p:ph idx="4" type="subTitle"/>
          </p:nvPr>
        </p:nvSpPr>
        <p:spPr>
          <a:xfrm>
            <a:off x="6460325" y="3934625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Q3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2" name="Google Shape;632;p4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3" name="Google Shape;633;p48"/>
          <p:cNvSpPr/>
          <p:nvPr/>
        </p:nvSpPr>
        <p:spPr>
          <a:xfrm>
            <a:off x="290300" y="16307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4" name="Google Shape;634;p48"/>
          <p:cNvSpPr/>
          <p:nvPr/>
        </p:nvSpPr>
        <p:spPr>
          <a:xfrm>
            <a:off x="3929175" y="1630725"/>
            <a:ext cx="35244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5" name="Google Shape;635;p48"/>
          <p:cNvSpPr/>
          <p:nvPr/>
        </p:nvSpPr>
        <p:spPr>
          <a:xfrm>
            <a:off x="290300" y="267867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3929175" y="2678675"/>
            <a:ext cx="35244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7" name="Google Shape;637;p48"/>
          <p:cNvSpPr/>
          <p:nvPr/>
        </p:nvSpPr>
        <p:spPr>
          <a:xfrm>
            <a:off x="3929175" y="3726625"/>
            <a:ext cx="35244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290300" y="3726625"/>
            <a:ext cx="3463800" cy="855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9" name="Google Shape;639;p48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The Team</a:t>
            </a:r>
            <a:endParaRPr/>
          </a:p>
        </p:txBody>
      </p:sp>
      <p:sp>
        <p:nvSpPr>
          <p:cNvPr id="640" name="Google Shape;640;p48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latin typeface="Hanken Grotesk Light"/>
                <a:ea typeface="Hanken Grotesk Light"/>
                <a:cs typeface="Hanken Grotesk Light"/>
                <a:sym typeface="Hanken Grotesk Light"/>
              </a:rPr>
              <a:t>Maya Chen</a:t>
            </a:r>
            <a:endParaRPr sz="2000"/>
          </a:p>
        </p:txBody>
      </p:sp>
      <p:sp>
        <p:nvSpPr>
          <p:cNvPr id="641" name="Google Shape;641;p48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latin typeface="Hanken Grotesk Light"/>
                <a:ea typeface="Hanken Grotesk Light"/>
                <a:cs typeface="Hanken Grotesk Light"/>
                <a:sym typeface="Hanken Grotesk Light"/>
              </a:rPr>
              <a:t>Rafael Ortiz</a:t>
            </a:r>
            <a:endParaRPr sz="2000"/>
          </a:p>
        </p:txBody>
      </p:sp>
      <p:sp>
        <p:nvSpPr>
          <p:cNvPr id="642" name="Google Shape;642;p48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latin typeface="Hanken Grotesk Light"/>
                <a:ea typeface="Hanken Grotesk Light"/>
                <a:cs typeface="Hanken Grotesk Light"/>
                <a:sym typeface="Hanken Grotesk Light"/>
              </a:rPr>
              <a:t>Iryna Kovalenko</a:t>
            </a:r>
            <a:endParaRPr sz="2000"/>
          </a:p>
        </p:txBody>
      </p:sp>
      <p:sp>
        <p:nvSpPr>
          <p:cNvPr id="643" name="Google Shape;643;p48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latin typeface="Hanken Grotesk Light"/>
                <a:ea typeface="Hanken Grotesk Light"/>
                <a:cs typeface="Hanken Grotesk Light"/>
                <a:sym typeface="Hanken Grotesk Light"/>
              </a:rPr>
              <a:t>Noah Patel</a:t>
            </a:r>
            <a:endParaRPr sz="2000"/>
          </a:p>
        </p:txBody>
      </p:sp>
      <p:sp>
        <p:nvSpPr>
          <p:cNvPr id="644" name="Google Shape;644;p48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latin typeface="Hanken Grotesk Light"/>
                <a:ea typeface="Hanken Grotesk Light"/>
                <a:cs typeface="Hanken Grotesk Light"/>
                <a:sym typeface="Hanken Grotesk Light"/>
              </a:rPr>
              <a:t>Sara Lindholm</a:t>
            </a:r>
            <a:endParaRPr sz="2000"/>
          </a:p>
        </p:txBody>
      </p:sp>
      <p:sp>
        <p:nvSpPr>
          <p:cNvPr id="645" name="Google Shape;645;p48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800">
                <a:latin typeface="Hanken Grotesk Light"/>
                <a:ea typeface="Hanken Grotesk Light"/>
                <a:cs typeface="Hanken Grotesk Light"/>
                <a:sym typeface="Hanken Grotesk Light"/>
              </a:rPr>
              <a:t>Dmytro Halenko</a:t>
            </a:r>
            <a:endParaRPr sz="2000"/>
          </a:p>
        </p:txBody>
      </p:sp>
      <p:pic>
        <p:nvPicPr>
          <p:cNvPr descr="A woman looks to the side while standing outdoors. " id="646" name="Google Shape;646;p48"/>
          <p:cNvPicPr preferRelativeResize="0"/>
          <p:nvPr>
            <p:ph idx="13" type="pic"/>
          </p:nvPr>
        </p:nvPicPr>
        <p:blipFill rotWithShape="1">
          <a:blip r:embed="rId3">
            <a:alphaModFix/>
          </a:blip>
          <a:srcRect b="0" l="1367" r="31930" t="0"/>
          <a:stretch/>
        </p:blipFill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businesswoman smiles and looks at the camera. " id="647" name="Google Shape;647;p48"/>
          <p:cNvPicPr preferRelativeResize="0"/>
          <p:nvPr>
            <p:ph idx="14" type="pic"/>
          </p:nvPr>
        </p:nvPicPr>
        <p:blipFill rotWithShape="1">
          <a:blip r:embed="rId4">
            <a:alphaModFix/>
          </a:blip>
          <a:srcRect b="46823" l="5923" r="19660" t="3580"/>
          <a:stretch/>
        </p:blipFill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man talks on his phone while sitting at a bar. " id="648" name="Google Shape;648;p48"/>
          <p:cNvPicPr preferRelativeResize="0"/>
          <p:nvPr>
            <p:ph idx="15" type="pic"/>
          </p:nvPr>
        </p:nvPicPr>
        <p:blipFill rotWithShape="1">
          <a:blip r:embed="rId5">
            <a:alphaModFix/>
          </a:blip>
          <a:srcRect b="39404" l="46892" r="22450" t="14578"/>
          <a:stretch/>
        </p:blipFill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businesswoman smiling. " id="649" name="Google Shape;649;p48"/>
          <p:cNvPicPr preferRelativeResize="0"/>
          <p:nvPr>
            <p:ph idx="16" type="pic"/>
          </p:nvPr>
        </p:nvPicPr>
        <p:blipFill rotWithShape="1">
          <a:blip r:embed="rId6">
            <a:alphaModFix/>
          </a:blip>
          <a:srcRect b="12988" l="31300" r="12333" t="2509"/>
          <a:stretch/>
        </p:blipFill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businessman in a suit. " id="650" name="Google Shape;650;p48"/>
          <p:cNvPicPr preferRelativeResize="0"/>
          <p:nvPr>
            <p:ph idx="17" type="pic"/>
          </p:nvPr>
        </p:nvPicPr>
        <p:blipFill rotWithShape="1">
          <a:blip r:embed="rId7">
            <a:alphaModFix/>
          </a:blip>
          <a:srcRect b="24451" l="37240" r="15059" t="4094"/>
          <a:stretch/>
        </p:blipFill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A woman standing outdoors and holding a microphone. " id="651" name="Google Shape;651;p48"/>
          <p:cNvPicPr preferRelativeResize="0"/>
          <p:nvPr>
            <p:ph idx="18" type="pic"/>
          </p:nvPr>
        </p:nvPicPr>
        <p:blipFill rotWithShape="1">
          <a:blip r:embed="rId8">
            <a:alphaModFix/>
          </a:blip>
          <a:srcRect b="33005" l="32329" r="28910" t="8713"/>
          <a:stretch/>
        </p:blipFill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52" name="Google Shape;652;p48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/>
              <a:t>CEO</a:t>
            </a:r>
            <a:endParaRPr/>
          </a:p>
        </p:txBody>
      </p:sp>
      <p:sp>
        <p:nvSpPr>
          <p:cNvPr id="653" name="Google Shape;653;p48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VP Product</a:t>
            </a:r>
            <a:endParaRPr/>
          </a:p>
        </p:txBody>
      </p:sp>
      <p:sp>
        <p:nvSpPr>
          <p:cNvPr id="654" name="Google Shape;654;p48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Revenue Director</a:t>
            </a:r>
            <a:endParaRPr/>
          </a:p>
        </p:txBody>
      </p:sp>
      <p:sp>
        <p:nvSpPr>
          <p:cNvPr id="655" name="Google Shape;655;p48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Engineering Lead</a:t>
            </a:r>
            <a:endParaRPr/>
          </a:p>
        </p:txBody>
      </p:sp>
      <p:sp>
        <p:nvSpPr>
          <p:cNvPr id="656" name="Google Shape;656;p48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Head of Customer Success</a:t>
            </a:r>
            <a:endParaRPr/>
          </a:p>
        </p:txBody>
      </p:sp>
      <p:sp>
        <p:nvSpPr>
          <p:cNvPr id="657" name="Google Shape;657;p48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360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Data &amp; AI Lead</a:t>
            </a:r>
            <a:endParaRPr/>
          </a:p>
        </p:txBody>
      </p:sp>
      <p:sp>
        <p:nvSpPr>
          <p:cNvPr id="658" name="Google Shape;658;p4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659" name="Google Shape;659;p4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660" name="Google Shape;660;p4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661" name="Google Shape;661;p48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Timeline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49"/>
          <p:cNvGrpSpPr/>
          <p:nvPr/>
        </p:nvGrpSpPr>
        <p:grpSpPr>
          <a:xfrm>
            <a:off x="2391741" y="972138"/>
            <a:ext cx="2156700" cy="3200661"/>
            <a:chOff x="2391741" y="972138"/>
            <a:chExt cx="2156700" cy="3200661"/>
          </a:xfrm>
        </p:grpSpPr>
        <p:sp>
          <p:nvSpPr>
            <p:cNvPr id="667" name="Google Shape;667;p49"/>
            <p:cNvSpPr/>
            <p:nvPr/>
          </p:nvSpPr>
          <p:spPr>
            <a:xfrm>
              <a:off x="2391741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68" name="Google Shape;668;p49"/>
            <p:cNvSpPr/>
            <p:nvPr/>
          </p:nvSpPr>
          <p:spPr>
            <a:xfrm>
              <a:off x="2479025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69" name="Google Shape;669;p49"/>
          <p:cNvGrpSpPr/>
          <p:nvPr/>
        </p:nvGrpSpPr>
        <p:grpSpPr>
          <a:xfrm>
            <a:off x="192897" y="972138"/>
            <a:ext cx="2156700" cy="3200661"/>
            <a:chOff x="192897" y="972138"/>
            <a:chExt cx="2156700" cy="3200661"/>
          </a:xfrm>
        </p:grpSpPr>
        <p:sp>
          <p:nvSpPr>
            <p:cNvPr id="670" name="Google Shape;670;p49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71" name="Google Shape;671;p49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72" name="Google Shape;672;p49"/>
          <p:cNvGrpSpPr/>
          <p:nvPr/>
        </p:nvGrpSpPr>
        <p:grpSpPr>
          <a:xfrm>
            <a:off x="4589494" y="972125"/>
            <a:ext cx="2156700" cy="3200674"/>
            <a:chOff x="4589494" y="972125"/>
            <a:chExt cx="2156700" cy="3200674"/>
          </a:xfrm>
        </p:grpSpPr>
        <p:sp>
          <p:nvSpPr>
            <p:cNvPr id="673" name="Google Shape;673;p49"/>
            <p:cNvSpPr/>
            <p:nvPr/>
          </p:nvSpPr>
          <p:spPr>
            <a:xfrm>
              <a:off x="4589494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4677738" y="972125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675" name="Google Shape;675;p49"/>
          <p:cNvGrpSpPr/>
          <p:nvPr/>
        </p:nvGrpSpPr>
        <p:grpSpPr>
          <a:xfrm>
            <a:off x="6788922" y="972138"/>
            <a:ext cx="2156700" cy="3200661"/>
            <a:chOff x="192897" y="972138"/>
            <a:chExt cx="2156700" cy="3200661"/>
          </a:xfrm>
        </p:grpSpPr>
        <p:sp>
          <p:nvSpPr>
            <p:cNvPr id="676" name="Google Shape;676;p49"/>
            <p:cNvSpPr/>
            <p:nvPr/>
          </p:nvSpPr>
          <p:spPr>
            <a:xfrm>
              <a:off x="192897" y="1148799"/>
              <a:ext cx="2156700" cy="30240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286050" y="972138"/>
              <a:ext cx="1122283" cy="180007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678" name="Google Shape;678;p49"/>
          <p:cNvSpPr txBox="1"/>
          <p:nvPr>
            <p:ph idx="9" type="body"/>
          </p:nvPr>
        </p:nvSpPr>
        <p:spPr>
          <a:xfrm>
            <a:off x="192900" y="257175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Northstar Assist will focus on disciplined growth in Q3 and Q4 2026, with objectives tied to revenue, activation, and customer expansion.</a:t>
            </a:r>
            <a:endParaRPr/>
          </a:p>
        </p:txBody>
      </p:sp>
      <p:sp>
        <p:nvSpPr>
          <p:cNvPr id="679" name="Google Shape;679;p49"/>
          <p:cNvSpPr txBox="1"/>
          <p:nvPr>
            <p:ph idx="13" type="body"/>
          </p:nvPr>
        </p:nvSpPr>
        <p:spPr>
          <a:xfrm>
            <a:off x="2390075" y="26436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Each objective supports the next stage: stronger pilots create better references, better references improve win rate, and improved win rate unlocks more efficient growth.</a:t>
            </a:r>
            <a:endParaRPr/>
          </a:p>
        </p:txBody>
      </p:sp>
      <p:sp>
        <p:nvSpPr>
          <p:cNvPr id="680" name="Google Shape;680;p49"/>
          <p:cNvSpPr txBox="1"/>
          <p:nvPr>
            <p:ph idx="14" type="body"/>
          </p:nvPr>
        </p:nvSpPr>
        <p:spPr>
          <a:xfrm>
            <a:off x="4641288" y="26436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Success will be tracked through product adoption, time-to-value, qualified pipeline, and renewal readiness across pilot and expansion accounts.</a:t>
            </a:r>
            <a:endParaRPr/>
          </a:p>
        </p:txBody>
      </p:sp>
      <p:sp>
        <p:nvSpPr>
          <p:cNvPr id="681" name="Google Shape;681;p49"/>
          <p:cNvSpPr txBox="1"/>
          <p:nvPr>
            <p:ph idx="15" type="body"/>
          </p:nvPr>
        </p:nvSpPr>
        <p:spPr>
          <a:xfrm>
            <a:off x="6789450" y="2643600"/>
            <a:ext cx="2156700" cy="18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"/>
              <a:t>The four priority objectives below are intentionally specific so they can be used in demos, QA checks, and RAG validation without ambiguity.</a:t>
            </a:r>
            <a:endParaRPr/>
          </a:p>
        </p:txBody>
      </p:sp>
      <p:sp>
        <p:nvSpPr>
          <p:cNvPr id="682" name="Google Shape;682;p49"/>
          <p:cNvSpPr txBox="1"/>
          <p:nvPr>
            <p:ph idx="2" type="title"/>
          </p:nvPr>
        </p:nvSpPr>
        <p:spPr>
          <a:xfrm>
            <a:off x="192900" y="369147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Q3 2026</a:t>
            </a:r>
            <a:endParaRPr/>
          </a:p>
        </p:txBody>
      </p:sp>
      <p:sp>
        <p:nvSpPr>
          <p:cNvPr id="683" name="Google Shape;683;p49"/>
          <p:cNvSpPr txBox="1"/>
          <p:nvPr>
            <p:ph idx="4" type="title"/>
          </p:nvPr>
        </p:nvSpPr>
        <p:spPr>
          <a:xfrm>
            <a:off x="2487088" y="369147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Q4 2026</a:t>
            </a:r>
            <a:endParaRPr/>
          </a:p>
        </p:txBody>
      </p:sp>
      <p:sp>
        <p:nvSpPr>
          <p:cNvPr id="684" name="Google Shape;684;p49"/>
          <p:cNvSpPr txBox="1"/>
          <p:nvPr>
            <p:ph idx="6" type="title"/>
          </p:nvPr>
        </p:nvSpPr>
        <p:spPr>
          <a:xfrm>
            <a:off x="4734125" y="369147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Q1 2027</a:t>
            </a:r>
            <a:endParaRPr/>
          </a:p>
        </p:txBody>
      </p:sp>
      <p:sp>
        <p:nvSpPr>
          <p:cNvPr id="685" name="Google Shape;685;p49"/>
          <p:cNvSpPr txBox="1"/>
          <p:nvPr>
            <p:ph idx="8" type="title"/>
          </p:nvPr>
        </p:nvSpPr>
        <p:spPr>
          <a:xfrm>
            <a:off x="6890825" y="3691475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Q2 2027</a:t>
            </a:r>
            <a:endParaRPr/>
          </a:p>
        </p:txBody>
      </p:sp>
      <p:sp>
        <p:nvSpPr>
          <p:cNvPr id="686" name="Google Shape;686;p4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OBJECTIVES</a:t>
            </a:r>
            <a:endParaRPr/>
          </a:p>
        </p:txBody>
      </p:sp>
      <p:sp>
        <p:nvSpPr>
          <p:cNvPr id="687" name="Google Shape;687;p49"/>
          <p:cNvSpPr txBox="1"/>
          <p:nvPr>
            <p:ph type="title"/>
          </p:nvPr>
        </p:nvSpPr>
        <p:spPr>
          <a:xfrm>
            <a:off x="192900" y="1451200"/>
            <a:ext cx="21567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Launch Guided Ro</a:t>
            </a:r>
            <a:r>
              <a:rPr lang="en" sz="2000"/>
              <a:t>llo</a:t>
            </a:r>
            <a:r>
              <a:rPr lang="en" sz="2000"/>
              <a:t>ut for pilot customers</a:t>
            </a:r>
            <a:endParaRPr/>
          </a:p>
        </p:txBody>
      </p:sp>
      <p:sp>
        <p:nvSpPr>
          <p:cNvPr id="688" name="Google Shape;688;p49"/>
          <p:cNvSpPr txBox="1"/>
          <p:nvPr>
            <p:ph idx="3" type="title"/>
          </p:nvPr>
        </p:nvSpPr>
        <p:spPr>
          <a:xfrm>
            <a:off x="2484588" y="14512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Reduce median onboarding time from 21 to 10 days</a:t>
            </a:r>
            <a:endParaRPr/>
          </a:p>
        </p:txBody>
      </p:sp>
      <p:sp>
        <p:nvSpPr>
          <p:cNvPr id="689" name="Google Shape;689;p49"/>
          <p:cNvSpPr txBox="1"/>
          <p:nvPr>
            <p:ph idx="5" type="title"/>
          </p:nvPr>
        </p:nvSpPr>
        <p:spPr>
          <a:xfrm>
            <a:off x="4590600" y="14512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Expand to two new EU markets with local language support</a:t>
            </a:r>
            <a:endParaRPr/>
          </a:p>
        </p:txBody>
      </p:sp>
      <p:sp>
        <p:nvSpPr>
          <p:cNvPr id="690" name="Google Shape;690;p49"/>
          <p:cNvSpPr txBox="1"/>
          <p:nvPr>
            <p:ph idx="7" type="title"/>
          </p:nvPr>
        </p:nvSpPr>
        <p:spPr>
          <a:xfrm>
            <a:off x="6854200" y="1451200"/>
            <a:ext cx="21567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10800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Reach $4.8M qualified pipeline and 92% gross retention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0"/>
          <p:cNvSpPr/>
          <p:nvPr/>
        </p:nvSpPr>
        <p:spPr>
          <a:xfrm>
            <a:off x="2284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6" name="Google Shape;696;p50"/>
          <p:cNvSpPr/>
          <p:nvPr/>
        </p:nvSpPr>
        <p:spPr>
          <a:xfrm>
            <a:off x="20060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7" name="Google Shape;697;p50"/>
          <p:cNvSpPr/>
          <p:nvPr/>
        </p:nvSpPr>
        <p:spPr>
          <a:xfrm>
            <a:off x="378297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8" name="Google Shape;698;p50"/>
          <p:cNvSpPr/>
          <p:nvPr/>
        </p:nvSpPr>
        <p:spPr>
          <a:xfrm>
            <a:off x="5560501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99" name="Google Shape;699;p50"/>
          <p:cNvSpPr/>
          <p:nvPr/>
        </p:nvSpPr>
        <p:spPr>
          <a:xfrm>
            <a:off x="7338026" y="562156"/>
            <a:ext cx="360000" cy="3600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00" name="Google Shape;700;p50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1" name="Google Shape;701;p50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2" name="Google Shape;702;p50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3" name="Google Shape;703;p50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04" name="Google Shape;704;p50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descr="A woman stands in her office while clutching her phone. " id="705" name="Google Shape;705;p50"/>
          <p:cNvPicPr preferRelativeResize="0"/>
          <p:nvPr/>
        </p:nvPicPr>
        <p:blipFill rotWithShape="1">
          <a:blip r:embed="rId3">
            <a:alphaModFix/>
          </a:blip>
          <a:srcRect b="67287" l="29425" r="29425" t="11182"/>
          <a:stretch/>
        </p:blipFill>
        <p:spPr>
          <a:xfrm>
            <a:off x="5559900" y="3718775"/>
            <a:ext cx="1578900" cy="1242000"/>
          </a:xfrm>
          <a:prstGeom prst="roundRect">
            <a:avLst>
              <a:gd fmla="val 10915" name="adj"/>
            </a:avLst>
          </a:prstGeom>
          <a:noFill/>
          <a:ln>
            <a:noFill/>
          </a:ln>
        </p:spPr>
      </p:pic>
      <p:pic>
        <p:nvPicPr>
          <p:cNvPr descr="A man sits in an office with a computer on his lap. " id="706" name="Google Shape;706;p50"/>
          <p:cNvPicPr preferRelativeResize="0"/>
          <p:nvPr/>
        </p:nvPicPr>
        <p:blipFill rotWithShape="1">
          <a:blip r:embed="rId4">
            <a:alphaModFix/>
          </a:blip>
          <a:srcRect b="50688" l="50352" r="12876" t="30070"/>
          <a:stretch/>
        </p:blipFill>
        <p:spPr>
          <a:xfrm>
            <a:off x="7334275" y="3718775"/>
            <a:ext cx="1578900" cy="1242000"/>
          </a:xfrm>
          <a:prstGeom prst="roundRect">
            <a:avLst>
              <a:gd fmla="val 11754" name="adj"/>
            </a:avLst>
          </a:prstGeom>
          <a:noFill/>
          <a:ln>
            <a:noFill/>
          </a:ln>
        </p:spPr>
      </p:pic>
      <p:pic>
        <p:nvPicPr>
          <p:cNvPr descr="A man stands while looking at the camera and holding a coffee mug. " id="707" name="Google Shape;707;p50"/>
          <p:cNvPicPr preferRelativeResize="0"/>
          <p:nvPr/>
        </p:nvPicPr>
        <p:blipFill rotWithShape="1">
          <a:blip r:embed="rId4">
            <a:alphaModFix/>
          </a:blip>
          <a:srcRect b="76951" l="6762" r="56467" t="3807"/>
          <a:stretch/>
        </p:blipFill>
        <p:spPr>
          <a:xfrm>
            <a:off x="3784275" y="3718650"/>
            <a:ext cx="1578900" cy="1242000"/>
          </a:xfrm>
          <a:prstGeom prst="roundRect">
            <a:avLst>
              <a:gd fmla="val 10254" name="adj"/>
            </a:avLst>
          </a:prstGeom>
          <a:noFill/>
          <a:ln>
            <a:noFill/>
          </a:ln>
        </p:spPr>
      </p:pic>
      <p:pic>
        <p:nvPicPr>
          <p:cNvPr descr="A businesswoman looks at the camera while standing in an office.  " id="708" name="Google Shape;708;p50"/>
          <p:cNvPicPr preferRelativeResize="0"/>
          <p:nvPr/>
        </p:nvPicPr>
        <p:blipFill rotWithShape="1">
          <a:blip r:embed="rId5">
            <a:alphaModFix/>
          </a:blip>
          <a:srcRect b="60020" l="37387" r="42714" t="27400"/>
          <a:stretch/>
        </p:blipFill>
        <p:spPr>
          <a:xfrm>
            <a:off x="227300" y="3718650"/>
            <a:ext cx="1580400" cy="1247400"/>
          </a:xfrm>
          <a:prstGeom prst="roundRect">
            <a:avLst>
              <a:gd fmla="val 10438" name="adj"/>
            </a:avLst>
          </a:prstGeom>
          <a:noFill/>
          <a:ln>
            <a:noFill/>
          </a:ln>
        </p:spPr>
      </p:pic>
      <p:pic>
        <p:nvPicPr>
          <p:cNvPr descr="A woman smiles and stands in front of a shelf with textiles and rugs. " id="709" name="Google Shape;709;p50"/>
          <p:cNvPicPr preferRelativeResize="0"/>
          <p:nvPr/>
        </p:nvPicPr>
        <p:blipFill rotWithShape="1">
          <a:blip r:embed="rId6">
            <a:alphaModFix/>
          </a:blip>
          <a:srcRect b="55985" l="20001" r="26889" t="15981"/>
          <a:stretch/>
        </p:blipFill>
        <p:spPr>
          <a:xfrm>
            <a:off x="2005412" y="3718650"/>
            <a:ext cx="1580400" cy="1247400"/>
          </a:xfrm>
          <a:prstGeom prst="roundRect">
            <a:avLst>
              <a:gd fmla="val 10228" name="adj"/>
            </a:avLst>
          </a:prstGeom>
          <a:noFill/>
          <a:ln>
            <a:noFill/>
          </a:ln>
        </p:spPr>
      </p:pic>
      <p:sp>
        <p:nvSpPr>
          <p:cNvPr id="710" name="Google Shape;710;p50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711" name="Google Shape;711;p50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712" name="Google Shape;712;p50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713" name="Google Shape;713;p50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714" name="Google Shape;714;p50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Pain Points</a:t>
            </a:r>
            <a:endParaRPr/>
          </a:p>
        </p:txBody>
      </p:sp>
      <p:sp>
        <p:nvSpPr>
          <p:cNvPr id="715" name="Google Shape;715;p50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Ava Romero</a:t>
            </a:r>
            <a:endParaRPr/>
          </a:p>
        </p:txBody>
      </p:sp>
      <p:sp>
        <p:nvSpPr>
          <p:cNvPr id="716" name="Google Shape;716;p5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PERSONAS</a:t>
            </a:r>
            <a:endParaRPr/>
          </a:p>
        </p:txBody>
      </p:sp>
      <p:sp>
        <p:nvSpPr>
          <p:cNvPr id="717" name="Google Shape;717;p50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2</a:t>
            </a:r>
            <a:endParaRPr/>
          </a:p>
        </p:txBody>
      </p:sp>
      <p:sp>
        <p:nvSpPr>
          <p:cNvPr id="718" name="Google Shape;718;p50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Jonas Weber</a:t>
            </a:r>
            <a:endParaRPr/>
          </a:p>
        </p:txBody>
      </p:sp>
      <p:sp>
        <p:nvSpPr>
          <p:cNvPr id="719" name="Google Shape;719;p50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Elena Petrov</a:t>
            </a:r>
            <a:endParaRPr/>
          </a:p>
        </p:txBody>
      </p:sp>
      <p:sp>
        <p:nvSpPr>
          <p:cNvPr id="720" name="Google Shape;720;p50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3</a:t>
            </a:r>
            <a:endParaRPr/>
          </a:p>
        </p:txBody>
      </p:sp>
      <p:sp>
        <p:nvSpPr>
          <p:cNvPr id="721" name="Google Shape;721;p50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Victor Okafor</a:t>
            </a:r>
            <a:endParaRPr/>
          </a:p>
        </p:txBody>
      </p:sp>
      <p:sp>
        <p:nvSpPr>
          <p:cNvPr id="722" name="Google Shape;722;p50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4</a:t>
            </a:r>
            <a:endParaRPr/>
          </a:p>
        </p:txBody>
      </p:sp>
      <p:sp>
        <p:nvSpPr>
          <p:cNvPr id="723" name="Google Shape;723;p50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800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2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Claire Dubois</a:t>
            </a:r>
            <a:endParaRPr/>
          </a:p>
        </p:txBody>
      </p:sp>
      <p:sp>
        <p:nvSpPr>
          <p:cNvPr id="724" name="Google Shape;724;p50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5</a:t>
            </a:r>
            <a:endParaRPr/>
          </a:p>
        </p:txBody>
      </p:sp>
      <p:sp>
        <p:nvSpPr>
          <p:cNvPr id="725" name="Google Shape;725;p50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>
                <a:latin typeface="Hanken Grotesk"/>
                <a:ea typeface="Hanken Grotesk"/>
                <a:cs typeface="Hanken Grotesk"/>
                <a:sym typeface="Hanken Grotesk"/>
              </a:rPr>
              <a:t>1</a:t>
            </a:r>
            <a:endParaRPr/>
          </a:p>
        </p:txBody>
      </p:sp>
      <p:sp>
        <p:nvSpPr>
          <p:cNvPr id="726" name="Google Shape;726;p50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727" name="Google Shape;727;p50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728" name="Google Shape;728;p50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729" name="Google Shape;729;p50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730" name="Google Shape;730;p50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Needs and motivations</a:t>
            </a:r>
            <a:endParaRPr/>
          </a:p>
        </p:txBody>
      </p:sp>
      <p:sp>
        <p:nvSpPr>
          <p:cNvPr id="731" name="Google Shape;731;p50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Too many customer questions reach the team after go-live, raising cost-to-serve.</a:t>
            </a:r>
            <a:endParaRPr/>
          </a:p>
        </p:txBody>
      </p:sp>
      <p:sp>
        <p:nvSpPr>
          <p:cNvPr id="732" name="Google Shape;732;p50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RevOps data is fragmented, making it hard to connect product usage with renewal risk.</a:t>
            </a:r>
            <a:endParaRPr/>
          </a:p>
        </p:txBody>
      </p:sp>
      <p:sp>
        <p:nvSpPr>
          <p:cNvPr id="733" name="Google Shape;733;p50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Security reviews slow down pilots when documentation is incomplete or hard to access.</a:t>
            </a:r>
            <a:endParaRPr/>
          </a:p>
        </p:txBody>
      </p:sp>
      <p:sp>
        <p:nvSpPr>
          <p:cNvPr id="734" name="Google Shape;734;p50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Regional teams translate content manually, which delays launches and creates drift.</a:t>
            </a:r>
            <a:endParaRPr/>
          </a:p>
        </p:txBody>
      </p:sp>
      <p:sp>
        <p:nvSpPr>
          <p:cNvPr id="735" name="Google Shape;735;p50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Managers lack a clean success score to identify accounts ready for expansion.</a:t>
            </a:r>
            <a:endParaRPr/>
          </a:p>
        </p:txBody>
      </p:sp>
      <p:sp>
        <p:nvSpPr>
          <p:cNvPr id="736" name="Google Shape;736;p50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Customer Success Manager who wants healthier accounts, faster adoption, and fewer escalations.</a:t>
            </a:r>
            <a:endParaRPr/>
          </a:p>
        </p:txBody>
      </p:sp>
      <p:sp>
        <p:nvSpPr>
          <p:cNvPr id="737" name="Google Shape;737;p50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RevOps Director focused on forecast accuracy, expansion signals, and standardized reporting.</a:t>
            </a:r>
            <a:endParaRPr/>
          </a:p>
        </p:txBody>
      </p:sp>
      <p:sp>
        <p:nvSpPr>
          <p:cNvPr id="738" name="Google Shape;738;p50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IT Security Manager who needs access control, auditability, and clear data handling policies.</a:t>
            </a:r>
            <a:endParaRPr/>
          </a:p>
        </p:txBody>
      </p:sp>
      <p:sp>
        <p:nvSpPr>
          <p:cNvPr id="739" name="Google Shape;739;p50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Regional Enablement Lead aiming for reusable launch kits and consistent messaging across markets.</a:t>
            </a:r>
            <a:endParaRPr/>
          </a:p>
        </p:txBody>
      </p:sp>
      <p:sp>
        <p:nvSpPr>
          <p:cNvPr id="740" name="Google Shape;740;p50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0" spcFirstLastPara="1" rIns="0" wrap="square" tIns="0">
            <a:noAutofit/>
          </a:bodyPr>
          <a:lstStyle/>
          <a:p>
            <a:pPr indent="0" lvl="0" marL="8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VP Customer Experience who wants a simple executive view of retention, risk, and growth potential.</a:t>
            </a:r>
            <a:endParaRPr/>
          </a:p>
        </p:txBody>
      </p:sp>
      <p:cxnSp>
        <p:nvCxnSpPr>
          <p:cNvPr id="741" name="Google Shape;741;p50"/>
          <p:cNvCxnSpPr/>
          <p:nvPr/>
        </p:nvCxnSpPr>
        <p:spPr>
          <a:xfrm rot="10800000">
            <a:off x="7900" y="2482456"/>
            <a:ext cx="9129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50"/>
          <p:cNvCxnSpPr/>
          <p:nvPr/>
        </p:nvCxnSpPr>
        <p:spPr>
          <a:xfrm rot="10800000">
            <a:off x="7050" y="1048156"/>
            <a:ext cx="912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p50"/>
          <p:cNvCxnSpPr/>
          <p:nvPr/>
        </p:nvCxnSpPr>
        <p:spPr>
          <a:xfrm rot="10800000">
            <a:off x="7900" y="2482456"/>
            <a:ext cx="9129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1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49" name="Google Shape;749;p51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0" name="Google Shape;750;p5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1" name="Google Shape;751;p51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2" name="Google Shape;752;p51"/>
          <p:cNvSpPr/>
          <p:nvPr/>
        </p:nvSpPr>
        <p:spPr>
          <a:xfrm>
            <a:off x="254000" y="2181486"/>
            <a:ext cx="1500300" cy="2374800"/>
          </a:xfrm>
          <a:prstGeom prst="roundRect">
            <a:avLst>
              <a:gd fmla="val 12343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3" name="Google Shape;753;p51"/>
          <p:cNvSpPr/>
          <p:nvPr/>
        </p:nvSpPr>
        <p:spPr>
          <a:xfrm>
            <a:off x="254000" y="2659197"/>
            <a:ext cx="1500300" cy="1897500"/>
          </a:xfrm>
          <a:prstGeom prst="roundRect">
            <a:avLst>
              <a:gd fmla="val 12343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4" name="Google Shape;754;p51"/>
          <p:cNvSpPr/>
          <p:nvPr/>
        </p:nvSpPr>
        <p:spPr>
          <a:xfrm>
            <a:off x="254000" y="3102131"/>
            <a:ext cx="1500300" cy="1454400"/>
          </a:xfrm>
          <a:prstGeom prst="roundRect">
            <a:avLst>
              <a:gd fmla="val 122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55" name="Google Shape;755;p51"/>
          <p:cNvSpPr/>
          <p:nvPr/>
        </p:nvSpPr>
        <p:spPr>
          <a:xfrm>
            <a:off x="254000" y="3571058"/>
            <a:ext cx="1500300" cy="985500"/>
          </a:xfrm>
          <a:prstGeom prst="roundRect">
            <a:avLst>
              <a:gd fmla="val 17824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756" name="Google Shape;756;p51"/>
          <p:cNvGrpSpPr/>
          <p:nvPr/>
        </p:nvGrpSpPr>
        <p:grpSpPr>
          <a:xfrm>
            <a:off x="254000" y="4030694"/>
            <a:ext cx="1503500" cy="1112681"/>
            <a:chOff x="254000" y="4030694"/>
            <a:chExt cx="1503500" cy="1112681"/>
          </a:xfrm>
        </p:grpSpPr>
        <p:sp>
          <p:nvSpPr>
            <p:cNvPr id="757" name="Google Shape;757;p51"/>
            <p:cNvSpPr/>
            <p:nvPr/>
          </p:nvSpPr>
          <p:spPr>
            <a:xfrm>
              <a:off x="254000" y="4030694"/>
              <a:ext cx="1500300" cy="525600"/>
            </a:xfrm>
            <a:prstGeom prst="roundRect">
              <a:avLst>
                <a:gd fmla="val 33416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758" name="Google Shape;758;p51"/>
            <p:cNvSpPr/>
            <p:nvPr/>
          </p:nvSpPr>
          <p:spPr>
            <a:xfrm>
              <a:off x="257200" y="4306375"/>
              <a:ext cx="1500300" cy="837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759" name="Google Shape;759;p51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Competitive landscape</a:t>
            </a:r>
            <a:endParaRPr/>
          </a:p>
        </p:txBody>
      </p:sp>
      <p:sp>
        <p:nvSpPr>
          <p:cNvPr id="760" name="Google Shape;760;p51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Opportunities</a:t>
            </a:r>
            <a:endParaRPr/>
          </a:p>
        </p:txBody>
      </p:sp>
      <p:sp>
        <p:nvSpPr>
          <p:cNvPr id="761" name="Google Shape;761;p51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  <p:sp>
        <p:nvSpPr>
          <p:cNvPr id="762" name="Google Shape;762;p51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Team</a:t>
            </a:r>
            <a:endParaRPr/>
          </a:p>
        </p:txBody>
      </p:sp>
      <p:sp>
        <p:nvSpPr>
          <p:cNvPr id="763" name="Google Shape;763;p51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Landscape</a:t>
            </a:r>
            <a:endParaRPr/>
          </a:p>
        </p:txBody>
      </p:sp>
      <p:sp>
        <p:nvSpPr>
          <p:cNvPr id="764" name="Google Shape;764;p51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Northstar Assist</a:t>
            </a:r>
            <a:endParaRPr/>
          </a:p>
        </p:txBody>
      </p:sp>
      <p:sp>
        <p:nvSpPr>
          <p:cNvPr id="765" name="Google Shape;765;p51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GuidePilot</a:t>
            </a:r>
            <a:endParaRPr/>
          </a:p>
        </p:txBody>
      </p:sp>
      <p:sp>
        <p:nvSpPr>
          <p:cNvPr id="766" name="Google Shape;766;p51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SupportFlow</a:t>
            </a:r>
            <a:endParaRPr/>
          </a:p>
        </p:txBody>
      </p:sp>
      <p:sp>
        <p:nvSpPr>
          <p:cNvPr id="767" name="Google Shape;767;p51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400"/>
              <a:t>Manual process</a:t>
            </a:r>
            <a:endParaRPr/>
          </a:p>
        </p:txBody>
      </p:sp>
      <p:sp>
        <p:nvSpPr>
          <p:cNvPr id="768" name="Google Shape;768;p51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Multilingual AI answers</a:t>
            </a:r>
            <a:endParaRPr/>
          </a:p>
        </p:txBody>
      </p:sp>
      <p:sp>
        <p:nvSpPr>
          <p:cNvPr id="769" name="Google Shape;769;p51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CRM and help-center sync</a:t>
            </a:r>
            <a:endParaRPr/>
          </a:p>
        </p:txBody>
      </p:sp>
      <p:sp>
        <p:nvSpPr>
          <p:cNvPr id="770" name="Google Shape;770;p51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Role-based admin controls</a:t>
            </a:r>
            <a:endParaRPr/>
          </a:p>
        </p:txBody>
      </p:sp>
      <p:sp>
        <p:nvSpPr>
          <p:cNvPr id="771" name="Google Shape;771;p51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Onboarding playbook templates</a:t>
            </a:r>
            <a:endParaRPr/>
          </a:p>
        </p:txBody>
      </p:sp>
      <p:sp>
        <p:nvSpPr>
          <p:cNvPr id="772" name="Google Shape;772;p51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Usage and adoption analytics</a:t>
            </a:r>
            <a:endParaRPr/>
          </a:p>
        </p:txBody>
      </p:sp>
      <p:sp>
        <p:nvSpPr>
          <p:cNvPr id="773" name="Google Shape;773;p51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74" name="Google Shape;774;p51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75" name="Google Shape;775;p51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76" name="Google Shape;776;p51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77" name="Google Shape;777;p51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78" name="Google Shape;778;p51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79" name="Google Shape;779;p51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80" name="Google Shape;780;p51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81" name="Google Shape;781;p51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82" name="Google Shape;782;p51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83" name="Google Shape;783;p51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84" name="Google Shape;784;p51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85" name="Google Shape;785;p51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86" name="Google Shape;786;p51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87" name="Google Shape;787;p51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88" name="Google Shape;788;p51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89" name="Google Shape;789;p51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  <p:sp>
        <p:nvSpPr>
          <p:cNvPr id="790" name="Google Shape;790;p51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91" name="Google Shape;791;p51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</a:t>
            </a:r>
            <a:endParaRPr/>
          </a:p>
        </p:txBody>
      </p:sp>
      <p:sp>
        <p:nvSpPr>
          <p:cNvPr id="792" name="Google Shape;792;p51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18000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✗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52"/>
          <p:cNvSpPr/>
          <p:nvPr/>
        </p:nvSpPr>
        <p:spPr>
          <a:xfrm>
            <a:off x="0" y="495300"/>
            <a:ext cx="9144000" cy="4648200"/>
          </a:xfrm>
          <a:prstGeom prst="rect">
            <a:avLst/>
          </a:prstGeom>
          <a:solidFill>
            <a:srgbClr val="D2FD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8" name="Google Shape;798;p52"/>
          <p:cNvGrpSpPr/>
          <p:nvPr/>
        </p:nvGrpSpPr>
        <p:grpSpPr>
          <a:xfrm>
            <a:off x="1314450" y="133350"/>
            <a:ext cx="5848275" cy="362100"/>
            <a:chOff x="1314450" y="133350"/>
            <a:chExt cx="5848275" cy="362100"/>
          </a:xfrm>
        </p:grpSpPr>
        <p:sp>
          <p:nvSpPr>
            <p:cNvPr id="799" name="Google Shape;799;p52"/>
            <p:cNvSpPr/>
            <p:nvPr/>
          </p:nvSpPr>
          <p:spPr>
            <a:xfrm>
              <a:off x="1314450" y="133350"/>
              <a:ext cx="1438200" cy="362100"/>
            </a:xfrm>
            <a:prstGeom prst="roundRect">
              <a:avLst>
                <a:gd fmla="val 39473" name="adj"/>
              </a:avLst>
            </a:prstGeom>
            <a:solidFill>
              <a:srgbClr val="FBE2C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2"/>
            <p:cNvSpPr txBox="1"/>
            <p:nvPr/>
          </p:nvSpPr>
          <p:spPr>
            <a:xfrm>
              <a:off x="1314450" y="133350"/>
              <a:ext cx="1438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Team</a:t>
              </a:r>
              <a:endParaRPr sz="12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01" name="Google Shape;801;p52"/>
            <p:cNvSpPr/>
            <p:nvPr/>
          </p:nvSpPr>
          <p:spPr>
            <a:xfrm>
              <a:off x="2781300" y="133350"/>
              <a:ext cx="1438200" cy="362100"/>
            </a:xfrm>
            <a:prstGeom prst="roundRect">
              <a:avLst>
                <a:gd fmla="val 39473" name="adj"/>
              </a:avLst>
            </a:prstGeom>
            <a:solidFill>
              <a:srgbClr val="C0E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52"/>
            <p:cNvSpPr txBox="1"/>
            <p:nvPr/>
          </p:nvSpPr>
          <p:spPr>
            <a:xfrm>
              <a:off x="2781300" y="133350"/>
              <a:ext cx="1438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Landscape</a:t>
              </a:r>
              <a:endParaRPr sz="12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03" name="Google Shape;803;p52"/>
            <p:cNvSpPr/>
            <p:nvPr/>
          </p:nvSpPr>
          <p:spPr>
            <a:xfrm>
              <a:off x="4229100" y="133350"/>
              <a:ext cx="1438200" cy="362100"/>
            </a:xfrm>
            <a:prstGeom prst="roundRect">
              <a:avLst>
                <a:gd fmla="val 39473" name="adj"/>
              </a:avLst>
            </a:prstGeom>
            <a:solidFill>
              <a:srgbClr val="FAEA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52"/>
            <p:cNvSpPr txBox="1"/>
            <p:nvPr/>
          </p:nvSpPr>
          <p:spPr>
            <a:xfrm>
              <a:off x="4229100" y="133350"/>
              <a:ext cx="1438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Opportunities</a:t>
              </a:r>
              <a:endParaRPr sz="12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05" name="Google Shape;805;p52"/>
            <p:cNvSpPr/>
            <p:nvPr/>
          </p:nvSpPr>
          <p:spPr>
            <a:xfrm>
              <a:off x="5724525" y="133350"/>
              <a:ext cx="1438200" cy="362100"/>
            </a:xfrm>
            <a:prstGeom prst="roundRect">
              <a:avLst>
                <a:gd fmla="val 39473" name="adj"/>
              </a:avLst>
            </a:prstGeom>
            <a:solidFill>
              <a:srgbClr val="FFCCE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52"/>
            <p:cNvSpPr txBox="1"/>
            <p:nvPr/>
          </p:nvSpPr>
          <p:spPr>
            <a:xfrm>
              <a:off x="5724525" y="133350"/>
              <a:ext cx="1438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Timeline</a:t>
              </a:r>
              <a:endParaRPr sz="12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07" name="Google Shape;807;p52"/>
          <p:cNvSpPr txBox="1"/>
          <p:nvPr/>
        </p:nvSpPr>
        <p:spPr>
          <a:xfrm>
            <a:off x="381000" y="666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50">
                <a:solidFill>
                  <a:srgbClr val="000000"/>
                </a:solidFill>
                <a:latin typeface="Neuton Light"/>
                <a:ea typeface="Neuton Light"/>
                <a:cs typeface="Neuton Light"/>
                <a:sym typeface="Neuton Light"/>
              </a:rPr>
              <a:t>Strategic growth opportunities focus on core efficiency and market expansion.</a:t>
            </a:r>
            <a:endParaRPr b="0" sz="2250">
              <a:solidFill>
                <a:srgbClr val="000000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grpSp>
        <p:nvGrpSpPr>
          <p:cNvPr id="808" name="Google Shape;808;p52"/>
          <p:cNvGrpSpPr/>
          <p:nvPr/>
        </p:nvGrpSpPr>
        <p:grpSpPr>
          <a:xfrm>
            <a:off x="381000" y="1428750"/>
            <a:ext cx="4095900" cy="3333900"/>
            <a:chOff x="381000" y="1428750"/>
            <a:chExt cx="4095900" cy="3333900"/>
          </a:xfrm>
        </p:grpSpPr>
        <p:pic>
          <p:nvPicPr>
            <p:cNvPr id="809" name="Google Shape;80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81000" y="1428750"/>
              <a:ext cx="4095900" cy="333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0" name="Google Shape;810;p52"/>
            <p:cNvSpPr txBox="1"/>
            <p:nvPr/>
          </p:nvSpPr>
          <p:spPr>
            <a:xfrm>
              <a:off x="571500" y="161925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Current Business Optimization</a:t>
              </a:r>
              <a:endParaRPr b="0" sz="14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grpSp>
          <p:nvGrpSpPr>
            <p:cNvPr id="811" name="Google Shape;811;p52"/>
            <p:cNvGrpSpPr/>
            <p:nvPr/>
          </p:nvGrpSpPr>
          <p:grpSpPr>
            <a:xfrm>
              <a:off x="571500" y="2000250"/>
              <a:ext cx="1762200" cy="1047900"/>
              <a:chOff x="0" y="0"/>
              <a:chExt cx="1762200" cy="1047900"/>
            </a:xfrm>
          </p:grpSpPr>
          <p:sp>
            <p:nvSpPr>
              <p:cNvPr id="812" name="Google Shape;812;p52"/>
              <p:cNvSpPr/>
              <p:nvPr/>
            </p:nvSpPr>
            <p:spPr>
              <a:xfrm>
                <a:off x="0" y="0"/>
                <a:ext cx="1762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E8FFB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52"/>
              <p:cNvSpPr txBox="1"/>
              <p:nvPr/>
            </p:nvSpPr>
            <p:spPr>
              <a:xfrm>
                <a:off x="142875" y="142875"/>
                <a:ext cx="1476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+28%</a:t>
                </a:r>
                <a:endParaRPr b="1" sz="2800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Expansion Revenue</a:t>
                </a:r>
                <a:endParaRPr sz="1000">
                  <a:solidFill>
                    <a:srgbClr val="666666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814" name="Google Shape;814;p52"/>
            <p:cNvGrpSpPr/>
            <p:nvPr/>
          </p:nvGrpSpPr>
          <p:grpSpPr>
            <a:xfrm>
              <a:off x="2428875" y="2000250"/>
              <a:ext cx="1762200" cy="1047900"/>
              <a:chOff x="0" y="0"/>
              <a:chExt cx="1762200" cy="1047900"/>
            </a:xfrm>
          </p:grpSpPr>
          <p:sp>
            <p:nvSpPr>
              <p:cNvPr id="815" name="Google Shape;815;p52"/>
              <p:cNvSpPr/>
              <p:nvPr/>
            </p:nvSpPr>
            <p:spPr>
              <a:xfrm>
                <a:off x="0" y="0"/>
                <a:ext cx="1762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E8FFB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52"/>
              <p:cNvSpPr txBox="1"/>
              <p:nvPr/>
            </p:nvSpPr>
            <p:spPr>
              <a:xfrm>
                <a:off x="142875" y="142875"/>
                <a:ext cx="1476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+41%</a:t>
                </a:r>
                <a:endParaRPr b="1" sz="2800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Pipeline Growth</a:t>
                </a:r>
                <a:endParaRPr sz="1000">
                  <a:solidFill>
                    <a:srgbClr val="666666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817" name="Google Shape;817;p52"/>
            <p:cNvGrpSpPr/>
            <p:nvPr/>
          </p:nvGrpSpPr>
          <p:grpSpPr>
            <a:xfrm>
              <a:off x="571500" y="3143250"/>
              <a:ext cx="1762200" cy="1047900"/>
              <a:chOff x="0" y="0"/>
              <a:chExt cx="1762200" cy="1047900"/>
            </a:xfrm>
          </p:grpSpPr>
          <p:sp>
            <p:nvSpPr>
              <p:cNvPr id="818" name="Google Shape;818;p52"/>
              <p:cNvSpPr/>
              <p:nvPr/>
            </p:nvSpPr>
            <p:spPr>
              <a:xfrm>
                <a:off x="0" y="0"/>
                <a:ext cx="1762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E8FFB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52"/>
              <p:cNvSpPr txBox="1"/>
              <p:nvPr/>
            </p:nvSpPr>
            <p:spPr>
              <a:xfrm>
                <a:off x="142875" y="142875"/>
                <a:ext cx="1476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+19%</a:t>
                </a:r>
                <a:endParaRPr b="1" sz="2800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Implementation Margin</a:t>
                </a:r>
                <a:endParaRPr sz="1000">
                  <a:solidFill>
                    <a:srgbClr val="666666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820" name="Google Shape;820;p52"/>
            <p:cNvGrpSpPr/>
            <p:nvPr/>
          </p:nvGrpSpPr>
          <p:grpSpPr>
            <a:xfrm>
              <a:off x="2428875" y="3143250"/>
              <a:ext cx="1762200" cy="1047900"/>
              <a:chOff x="0" y="0"/>
              <a:chExt cx="1762200" cy="1047900"/>
            </a:xfrm>
          </p:grpSpPr>
          <p:sp>
            <p:nvSpPr>
              <p:cNvPr id="821" name="Google Shape;821;p52"/>
              <p:cNvSpPr/>
              <p:nvPr/>
            </p:nvSpPr>
            <p:spPr>
              <a:xfrm>
                <a:off x="0" y="0"/>
                <a:ext cx="17622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E8FFB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52"/>
              <p:cNvSpPr txBox="1"/>
              <p:nvPr/>
            </p:nvSpPr>
            <p:spPr>
              <a:xfrm>
                <a:off x="142875" y="142875"/>
                <a:ext cx="14763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800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+24%</a:t>
                </a:r>
                <a:endParaRPr b="1" sz="2800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Activation Rate</a:t>
                </a:r>
                <a:endParaRPr sz="1000">
                  <a:solidFill>
                    <a:srgbClr val="666666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  <p:grpSp>
        <p:nvGrpSpPr>
          <p:cNvPr id="823" name="Google Shape;823;p52"/>
          <p:cNvGrpSpPr/>
          <p:nvPr/>
        </p:nvGrpSpPr>
        <p:grpSpPr>
          <a:xfrm>
            <a:off x="4667250" y="1428750"/>
            <a:ext cx="4095900" cy="3333900"/>
            <a:chOff x="4667250" y="1428750"/>
            <a:chExt cx="4095900" cy="3333900"/>
          </a:xfrm>
        </p:grpSpPr>
        <p:pic>
          <p:nvPicPr>
            <p:cNvPr id="824" name="Google Shape;824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67250" y="1428750"/>
              <a:ext cx="4095900" cy="333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52"/>
            <p:cNvSpPr txBox="1"/>
            <p:nvPr/>
          </p:nvSpPr>
          <p:spPr>
            <a:xfrm>
              <a:off x="4857750" y="1619250"/>
              <a:ext cx="3714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New Product Market Projection</a:t>
              </a:r>
              <a:endParaRPr b="0" sz="14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grpSp>
          <p:nvGrpSpPr>
            <p:cNvPr id="826" name="Google Shape;826;p52"/>
            <p:cNvGrpSpPr/>
            <p:nvPr/>
          </p:nvGrpSpPr>
          <p:grpSpPr>
            <a:xfrm>
              <a:off x="4810125" y="2190750"/>
              <a:ext cx="3667200" cy="2520825"/>
              <a:chOff x="-428625" y="0"/>
              <a:chExt cx="3667200" cy="2520825"/>
            </a:xfrm>
          </p:grpSpPr>
          <p:cxnSp>
            <p:nvCxnSpPr>
              <p:cNvPr id="827" name="Google Shape;827;p52"/>
              <p:cNvCxnSpPr/>
              <p:nvPr/>
            </p:nvCxnSpPr>
            <p:spPr>
              <a:xfrm>
                <a:off x="0" y="2000250"/>
                <a:ext cx="31434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8" name="Google Shape;828;p52"/>
              <p:cNvCxnSpPr/>
              <p:nvPr/>
            </p:nvCxnSpPr>
            <p:spPr>
              <a:xfrm>
                <a:off x="0" y="0"/>
                <a:ext cx="0" cy="20001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pic>
            <p:nvPicPr>
              <p:cNvPr id="829" name="Google Shape;829;p5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595438"/>
                <a:ext cx="31434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0" name="Google Shape;830;p5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1195388"/>
                <a:ext cx="31434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1" name="Google Shape;831;p5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795338"/>
                <a:ext cx="31434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2" name="Google Shape;832;p5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395288"/>
                <a:ext cx="3143400" cy="9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3" name="Google Shape;833;p5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85738" y="561975"/>
                <a:ext cx="2867100" cy="1162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4" name="Google Shape;834;p52"/>
              <p:cNvSpPr/>
              <p:nvPr/>
            </p:nvSpPr>
            <p:spPr>
              <a:xfrm>
                <a:off x="152400" y="1676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52"/>
              <p:cNvSpPr/>
              <p:nvPr/>
            </p:nvSpPr>
            <p:spPr>
              <a:xfrm>
                <a:off x="723900" y="14859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52"/>
              <p:cNvSpPr/>
              <p:nvPr/>
            </p:nvSpPr>
            <p:spPr>
              <a:xfrm>
                <a:off x="1295400" y="11049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52"/>
              <p:cNvSpPr/>
              <p:nvPr/>
            </p:nvSpPr>
            <p:spPr>
              <a:xfrm>
                <a:off x="1866900" y="914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2"/>
              <p:cNvSpPr/>
              <p:nvPr/>
            </p:nvSpPr>
            <p:spPr>
              <a:xfrm>
                <a:off x="2438400" y="7239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2"/>
              <p:cNvSpPr/>
              <p:nvPr/>
            </p:nvSpPr>
            <p:spPr>
              <a:xfrm>
                <a:off x="3009900" y="533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2"/>
              <p:cNvSpPr txBox="1"/>
              <p:nvPr/>
            </p:nvSpPr>
            <p:spPr>
              <a:xfrm rot="1800269">
                <a:off x="-101646" y="2046206"/>
                <a:ext cx="476335" cy="381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Mid-Market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1" name="Google Shape;841;p52"/>
              <p:cNvSpPr txBox="1"/>
              <p:nvPr/>
            </p:nvSpPr>
            <p:spPr>
              <a:xfrm rot="1800269">
                <a:off x="469854" y="2046206"/>
                <a:ext cx="476335" cy="381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Agencies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2" name="Google Shape;842;p52"/>
              <p:cNvSpPr txBox="1"/>
              <p:nvPr/>
            </p:nvSpPr>
            <p:spPr>
              <a:xfrm rot="1800269">
                <a:off x="1041354" y="2046206"/>
                <a:ext cx="476335" cy="381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Fintech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3" name="Google Shape;843;p52"/>
              <p:cNvSpPr txBox="1"/>
              <p:nvPr/>
            </p:nvSpPr>
            <p:spPr>
              <a:xfrm rot="1800269">
                <a:off x="1612854" y="2046206"/>
                <a:ext cx="476335" cy="381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EU Exp.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4" name="Google Shape;844;p52"/>
              <p:cNvSpPr txBox="1"/>
              <p:nvPr/>
            </p:nvSpPr>
            <p:spPr>
              <a:xfrm rot="1800269">
                <a:off x="2184354" y="2046206"/>
                <a:ext cx="476335" cy="381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Healthtech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5" name="Google Shape;845;p52"/>
              <p:cNvSpPr/>
              <p:nvPr/>
            </p:nvSpPr>
            <p:spPr>
              <a:xfrm>
                <a:off x="2809875" y="333375"/>
                <a:ext cx="428700" cy="190500"/>
              </a:xfrm>
              <a:prstGeom prst="roundRect">
                <a:avLst>
                  <a:gd fmla="val 2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2"/>
              <p:cNvSpPr txBox="1"/>
              <p:nvPr/>
            </p:nvSpPr>
            <p:spPr>
              <a:xfrm>
                <a:off x="2809875" y="333375"/>
                <a:ext cx="4287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697">
                    <a:solidFill>
                      <a:srgbClr val="FFFFFF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14%</a:t>
                </a:r>
                <a:endParaRPr b="1" sz="697">
                  <a:solidFill>
                    <a:srgbClr val="FFFFFF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7" name="Google Shape;847;p52"/>
              <p:cNvSpPr txBox="1"/>
              <p:nvPr/>
            </p:nvSpPr>
            <p:spPr>
              <a:xfrm>
                <a:off x="-428625" y="163830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$310K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848" name="Google Shape;848;p52"/>
              <p:cNvSpPr txBox="1"/>
              <p:nvPr/>
            </p:nvSpPr>
            <p:spPr>
              <a:xfrm>
                <a:off x="-428625" y="495300"/>
                <a:ext cx="381000" cy="14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97">
                    <a:solidFill>
                      <a:srgbClr val="000000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rPr>
                  <a:t>$7.2M</a:t>
                </a:r>
                <a:endParaRPr sz="697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3"/>
          <p:cNvSpPr/>
          <p:nvPr/>
        </p:nvSpPr>
        <p:spPr>
          <a:xfrm>
            <a:off x="408451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4" name="Google Shape;854;p53"/>
          <p:cNvSpPr/>
          <p:nvPr/>
        </p:nvSpPr>
        <p:spPr>
          <a:xfrm>
            <a:off x="2184251" y="1632479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5" name="Google Shape;855;p53"/>
          <p:cNvSpPr/>
          <p:nvPr/>
        </p:nvSpPr>
        <p:spPr>
          <a:xfrm>
            <a:off x="3961851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6" name="Google Shape;856;p53"/>
          <p:cNvSpPr/>
          <p:nvPr/>
        </p:nvSpPr>
        <p:spPr>
          <a:xfrm>
            <a:off x="5740276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7" name="Google Shape;857;p53"/>
          <p:cNvSpPr/>
          <p:nvPr/>
        </p:nvSpPr>
        <p:spPr>
          <a:xfrm>
            <a:off x="7520838" y="1634254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858" name="Google Shape;858;p53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Improve executive reporting and success scoring for renewal and expansion.</a:t>
            </a:r>
            <a:endParaRPr/>
          </a:p>
        </p:txBody>
      </p:sp>
      <p:sp>
        <p:nvSpPr>
          <p:cNvPr id="859" name="Google Shape;859;p53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Scale expansion</a:t>
            </a:r>
            <a:endParaRPr/>
          </a:p>
        </p:txBody>
      </p:sp>
      <p:sp>
        <p:nvSpPr>
          <p:cNvPr id="860" name="Google Shape;860;p53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dashboard</a:t>
            </a:r>
            <a:endParaRPr/>
          </a:p>
        </p:txBody>
      </p:sp>
      <p:sp>
        <p:nvSpPr>
          <p:cNvPr id="861" name="Google Shape;861;p53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QBR package in all pilots</a:t>
            </a:r>
            <a:endParaRPr/>
          </a:p>
        </p:txBody>
      </p:sp>
      <p:sp>
        <p:nvSpPr>
          <p:cNvPr id="862" name="Google Shape;862;p53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Publish customer stories, ROI calculator, and localized pages for Germany and Spain.</a:t>
            </a:r>
            <a:endParaRPr/>
          </a:p>
        </p:txBody>
      </p:sp>
      <p:sp>
        <p:nvSpPr>
          <p:cNvPr id="863" name="Google Shape;863;p53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Launch package live</a:t>
            </a:r>
            <a:endParaRPr/>
          </a:p>
        </p:txBody>
      </p:sp>
      <p:sp>
        <p:nvSpPr>
          <p:cNvPr id="864" name="Google Shape;864;p53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Train Sales and CS on demo flow, rollout milestones, and escalation paths.</a:t>
            </a:r>
            <a:endParaRPr/>
          </a:p>
        </p:txBody>
      </p:sp>
      <p:sp>
        <p:nvSpPr>
          <p:cNvPr id="865" name="Google Shape;865;p53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Enablement kit and scripts</a:t>
            </a:r>
            <a:endParaRPr/>
          </a:p>
        </p:txBody>
      </p:sp>
      <p:sp>
        <p:nvSpPr>
          <p:cNvPr id="866" name="Google Shape;866;p53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Weekly certification complete</a:t>
            </a:r>
            <a:endParaRPr/>
          </a:p>
        </p:txBody>
      </p:sp>
      <p:sp>
        <p:nvSpPr>
          <p:cNvPr id="867" name="Google Shape;867;p53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Ship Guided Rollout and connect CRM, help center, and usage events.</a:t>
            </a:r>
            <a:endParaRPr/>
          </a:p>
        </p:txBody>
      </p:sp>
      <p:sp>
        <p:nvSpPr>
          <p:cNvPr id="868" name="Google Shape;868;p53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Build product</a:t>
            </a:r>
            <a:endParaRPr/>
          </a:p>
        </p:txBody>
      </p:sp>
      <p:sp>
        <p:nvSpPr>
          <p:cNvPr id="869" name="Google Shape;869;p53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Integration bundle</a:t>
            </a:r>
            <a:endParaRPr/>
          </a:p>
        </p:txBody>
      </p:sp>
      <p:sp>
        <p:nvSpPr>
          <p:cNvPr id="870" name="Google Shape;870;p53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Beta ready in staging</a:t>
            </a:r>
            <a:endParaRPr/>
          </a:p>
        </p:txBody>
      </p:sp>
      <p:sp>
        <p:nvSpPr>
          <p:cNvPr id="871" name="Google Shape;871;p53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Pilot discovery</a:t>
            </a:r>
            <a:endParaRPr/>
          </a:p>
        </p:txBody>
      </p:sp>
      <p:sp>
        <p:nvSpPr>
          <p:cNvPr id="872" name="Google Shape;872;p53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Baseline workflow map</a:t>
            </a:r>
            <a:endParaRPr/>
          </a:p>
        </p:txBody>
      </p:sp>
      <p:sp>
        <p:nvSpPr>
          <p:cNvPr id="873" name="Google Shape;873;p53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Pilot checklist and success criteria</a:t>
            </a:r>
            <a:endParaRPr/>
          </a:p>
        </p:txBody>
      </p:sp>
      <p:sp>
        <p:nvSpPr>
          <p:cNvPr id="874" name="Google Shape;874;p53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200">
                <a:latin typeface="Hanken Grotesk"/>
                <a:ea typeface="Hanken Grotesk"/>
                <a:cs typeface="Hanken Grotesk"/>
                <a:sym typeface="Hanken Grotesk"/>
              </a:rPr>
              <a:t>1</a:t>
            </a:r>
            <a:endParaRPr/>
          </a:p>
        </p:txBody>
      </p:sp>
      <p:sp>
        <p:nvSpPr>
          <p:cNvPr id="875" name="Google Shape;875;p53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200">
                <a:latin typeface="Hanken Grotesk"/>
                <a:ea typeface="Hanken Grotesk"/>
                <a:cs typeface="Hanken Grotesk"/>
                <a:sym typeface="Hanken Grotesk"/>
              </a:rPr>
              <a:t>2</a:t>
            </a:r>
            <a:endParaRPr/>
          </a:p>
        </p:txBody>
      </p:sp>
      <p:sp>
        <p:nvSpPr>
          <p:cNvPr id="876" name="Google Shape;876;p53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200">
                <a:latin typeface="Hanken Grotesk"/>
                <a:ea typeface="Hanken Grotesk"/>
                <a:cs typeface="Hanken Grotesk"/>
                <a:sym typeface="Hanken Grotesk"/>
              </a:rPr>
              <a:t>3</a:t>
            </a:r>
            <a:endParaRPr/>
          </a:p>
        </p:txBody>
      </p:sp>
      <p:sp>
        <p:nvSpPr>
          <p:cNvPr id="877" name="Google Shape;877;p53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200">
                <a:latin typeface="Hanken Grotesk"/>
                <a:ea typeface="Hanken Grotesk"/>
                <a:cs typeface="Hanken Grotesk"/>
                <a:sym typeface="Hanken Grotesk"/>
              </a:rPr>
              <a:t>4</a:t>
            </a:r>
            <a:endParaRPr/>
          </a:p>
        </p:txBody>
      </p:sp>
      <p:sp>
        <p:nvSpPr>
          <p:cNvPr id="878" name="Google Shape;878;p53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0000" lIns="180000" spcFirstLastPara="1" rIns="0" wrap="square" tIns="900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200">
                <a:latin typeface="Hanken Grotesk"/>
                <a:ea typeface="Hanken Grotesk"/>
                <a:cs typeface="Hanken Grotesk"/>
                <a:sym typeface="Hanken Grotesk"/>
              </a:rPr>
              <a:t>5</a:t>
            </a:r>
            <a:endParaRPr/>
          </a:p>
        </p:txBody>
      </p:sp>
      <p:sp>
        <p:nvSpPr>
          <p:cNvPr id="879" name="Google Shape;879;p53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Validate three design partners and document the baseline onboarding workflow.</a:t>
            </a:r>
            <a:endParaRPr/>
          </a:p>
        </p:txBody>
      </p:sp>
      <p:sp>
        <p:nvSpPr>
          <p:cNvPr id="880" name="Google Shape;880;p53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BUSINESS ROADMAP</a:t>
            </a:r>
            <a:endParaRPr/>
          </a:p>
        </p:txBody>
      </p:sp>
      <p:sp>
        <p:nvSpPr>
          <p:cNvPr id="881" name="Google Shape;881;p53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Build</a:t>
            </a:r>
            <a:endParaRPr/>
          </a:p>
        </p:txBody>
      </p:sp>
      <p:sp>
        <p:nvSpPr>
          <p:cNvPr id="882" name="Google Shape;882;p53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Enable</a:t>
            </a:r>
            <a:endParaRPr/>
          </a:p>
        </p:txBody>
      </p:sp>
      <p:sp>
        <p:nvSpPr>
          <p:cNvPr id="883" name="Google Shape;883;p53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Discover</a:t>
            </a:r>
            <a:endParaRPr/>
          </a:p>
        </p:txBody>
      </p:sp>
      <p:sp>
        <p:nvSpPr>
          <p:cNvPr id="884" name="Google Shape;884;p53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Launch</a:t>
            </a:r>
            <a:endParaRPr/>
          </a:p>
        </p:txBody>
      </p:sp>
      <p:sp>
        <p:nvSpPr>
          <p:cNvPr id="885" name="Google Shape;885;p53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000">
                <a:latin typeface="Hanken Grotesk"/>
                <a:ea typeface="Hanken Grotesk"/>
                <a:cs typeface="Hanken Grotesk"/>
                <a:sym typeface="Hanken Grotesk"/>
              </a:rPr>
              <a:t>Scale</a:t>
            </a:r>
            <a:endParaRPr/>
          </a:p>
        </p:txBody>
      </p:sp>
      <p:grpSp>
        <p:nvGrpSpPr>
          <p:cNvPr id="886" name="Google Shape;886;p53"/>
          <p:cNvGrpSpPr/>
          <p:nvPr/>
        </p:nvGrpSpPr>
        <p:grpSpPr>
          <a:xfrm>
            <a:off x="173652" y="3215713"/>
            <a:ext cx="7220388" cy="1412356"/>
            <a:chOff x="173652" y="3215713"/>
            <a:chExt cx="7220388" cy="1412356"/>
          </a:xfrm>
        </p:grpSpPr>
        <p:sp>
          <p:nvSpPr>
            <p:cNvPr id="887" name="Google Shape;887;p53"/>
            <p:cNvSpPr/>
            <p:nvPr/>
          </p:nvSpPr>
          <p:spPr>
            <a:xfrm>
              <a:off x="1736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8" name="Google Shape;888;p53"/>
            <p:cNvSpPr/>
            <p:nvPr/>
          </p:nvSpPr>
          <p:spPr>
            <a:xfrm>
              <a:off x="173652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9" name="Google Shape;889;p53"/>
            <p:cNvSpPr/>
            <p:nvPr/>
          </p:nvSpPr>
          <p:spPr>
            <a:xfrm>
              <a:off x="173652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0" name="Google Shape;890;p53"/>
            <p:cNvSpPr/>
            <p:nvPr/>
          </p:nvSpPr>
          <p:spPr>
            <a:xfrm>
              <a:off x="19494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1" name="Google Shape;891;p53"/>
            <p:cNvSpPr/>
            <p:nvPr/>
          </p:nvSpPr>
          <p:spPr>
            <a:xfrm>
              <a:off x="1949452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2" name="Google Shape;892;p53"/>
            <p:cNvSpPr/>
            <p:nvPr/>
          </p:nvSpPr>
          <p:spPr>
            <a:xfrm>
              <a:off x="1949452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3" name="Google Shape;893;p53"/>
            <p:cNvSpPr/>
            <p:nvPr/>
          </p:nvSpPr>
          <p:spPr>
            <a:xfrm>
              <a:off x="7286040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4" name="Google Shape;894;p53"/>
            <p:cNvSpPr/>
            <p:nvPr/>
          </p:nvSpPr>
          <p:spPr>
            <a:xfrm>
              <a:off x="7286040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5" name="Google Shape;895;p53"/>
            <p:cNvSpPr/>
            <p:nvPr/>
          </p:nvSpPr>
          <p:spPr>
            <a:xfrm>
              <a:off x="5503952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6" name="Google Shape;896;p53"/>
            <p:cNvSpPr/>
            <p:nvPr/>
          </p:nvSpPr>
          <p:spPr>
            <a:xfrm>
              <a:off x="3729127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7" name="Google Shape;897;p53"/>
            <p:cNvSpPr/>
            <p:nvPr/>
          </p:nvSpPr>
          <p:spPr>
            <a:xfrm>
              <a:off x="3729127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98" name="Google Shape;898;p53"/>
            <p:cNvSpPr/>
            <p:nvPr/>
          </p:nvSpPr>
          <p:spPr>
            <a:xfrm>
              <a:off x="7286040" y="4520069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9" name="Google Shape;899;p53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Team enablement</a:t>
            </a:r>
            <a:endParaRPr/>
          </a:p>
        </p:txBody>
      </p:sp>
      <p:sp>
        <p:nvSpPr>
          <p:cNvPr id="900" name="Google Shape;900;p53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Demand launch</a:t>
            </a:r>
            <a:endParaRPr/>
          </a:p>
        </p:txBody>
      </p:sp>
      <p:sp>
        <p:nvSpPr>
          <p:cNvPr id="901" name="Google Shape;901;p53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18000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Board update</a:t>
            </a:r>
            <a:endParaRPr/>
          </a:p>
        </p:txBody>
      </p:sp>
      <p:sp>
        <p:nvSpPr>
          <p:cNvPr id="902" name="Google Shape;902;p53"/>
          <p:cNvSpPr/>
          <p:nvPr/>
        </p:nvSpPr>
        <p:spPr>
          <a:xfrm>
            <a:off x="3729852" y="4520063"/>
            <a:ext cx="108000" cy="1080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903" name="Google Shape;903;p53"/>
          <p:cNvGrpSpPr/>
          <p:nvPr/>
        </p:nvGrpSpPr>
        <p:grpSpPr>
          <a:xfrm>
            <a:off x="5505602" y="3867888"/>
            <a:ext cx="108000" cy="760175"/>
            <a:chOff x="3729127" y="3215713"/>
            <a:chExt cx="108000" cy="760175"/>
          </a:xfrm>
        </p:grpSpPr>
        <p:sp>
          <p:nvSpPr>
            <p:cNvPr id="904" name="Google Shape;904;p53"/>
            <p:cNvSpPr/>
            <p:nvPr/>
          </p:nvSpPr>
          <p:spPr>
            <a:xfrm>
              <a:off x="3729127" y="3215713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05" name="Google Shape;905;p53"/>
            <p:cNvSpPr/>
            <p:nvPr/>
          </p:nvSpPr>
          <p:spPr>
            <a:xfrm>
              <a:off x="3729127" y="3867888"/>
              <a:ext cx="108000" cy="108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cxnSp>
        <p:nvCxnSpPr>
          <p:cNvPr id="906" name="Google Shape;906;p53"/>
          <p:cNvCxnSpPr/>
          <p:nvPr/>
        </p:nvCxnSpPr>
        <p:spPr>
          <a:xfrm rot="10800000">
            <a:off x="2276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3"/>
          <p:cNvCxnSpPr/>
          <p:nvPr/>
        </p:nvCxnSpPr>
        <p:spPr>
          <a:xfrm rot="10800000">
            <a:off x="2003453" y="3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3"/>
          <p:cNvCxnSpPr/>
          <p:nvPr/>
        </p:nvCxnSpPr>
        <p:spPr>
          <a:xfrm rot="10800000">
            <a:off x="3781056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3"/>
          <p:cNvCxnSpPr/>
          <p:nvPr/>
        </p:nvCxnSpPr>
        <p:spPr>
          <a:xfrm rot="10800000">
            <a:off x="5559484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0" name="Google Shape;910;p53"/>
          <p:cNvCxnSpPr/>
          <p:nvPr/>
        </p:nvCxnSpPr>
        <p:spPr>
          <a:xfrm rot="10800000">
            <a:off x="7340050" y="2100"/>
            <a:ext cx="0" cy="514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4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METRICS</a:t>
            </a:r>
            <a:endParaRPr/>
          </a:p>
        </p:txBody>
      </p:sp>
      <p:sp>
        <p:nvSpPr>
          <p:cNvPr id="916" name="Google Shape;916;p54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Projected results</a:t>
            </a:r>
            <a:endParaRPr/>
          </a:p>
        </p:txBody>
      </p:sp>
      <p:sp>
        <p:nvSpPr>
          <p:cNvPr id="917" name="Google Shape;917;p54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800"/>
              <a:t>Gross retention</a:t>
            </a:r>
            <a:endParaRPr/>
          </a:p>
        </p:txBody>
      </p:sp>
      <p:sp>
        <p:nvSpPr>
          <p:cNvPr id="918" name="Google Shape;918;p54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Net revenue retention</a:t>
            </a:r>
            <a:endParaRPr/>
          </a:p>
        </p:txBody>
      </p:sp>
      <p:sp>
        <p:nvSpPr>
          <p:cNvPr id="919" name="Google Shape;919;p54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Activation by day 14</a:t>
            </a:r>
            <a:endParaRPr/>
          </a:p>
        </p:txBody>
      </p:sp>
      <p:sp>
        <p:nvSpPr>
          <p:cNvPr id="920" name="Google Shape;920;p54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Median onboarding time</a:t>
            </a:r>
            <a:endParaRPr/>
          </a:p>
        </p:txBody>
      </p:sp>
      <p:sp>
        <p:nvSpPr>
          <p:cNvPr id="921" name="Google Shape;921;p54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Win rate on pilots</a:t>
            </a:r>
            <a:endParaRPr/>
          </a:p>
        </p:txBody>
      </p:sp>
      <p:sp>
        <p:nvSpPr>
          <p:cNvPr id="922" name="Google Shape;922;p54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92%</a:t>
            </a:r>
            <a:endParaRPr/>
          </a:p>
        </p:txBody>
      </p:sp>
      <p:sp>
        <p:nvSpPr>
          <p:cNvPr id="923" name="Google Shape;923;p54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800"/>
              <a:t>118%</a:t>
            </a:r>
            <a:endParaRPr/>
          </a:p>
        </p:txBody>
      </p:sp>
      <p:sp>
        <p:nvSpPr>
          <p:cNvPr id="924" name="Google Shape;924;p54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80%</a:t>
            </a:r>
            <a:endParaRPr/>
          </a:p>
        </p:txBody>
      </p:sp>
      <p:sp>
        <p:nvSpPr>
          <p:cNvPr id="925" name="Google Shape;925;p54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10 days</a:t>
            </a:r>
            <a:endParaRPr/>
          </a:p>
        </p:txBody>
      </p:sp>
      <p:sp>
        <p:nvSpPr>
          <p:cNvPr id="926" name="Google Shape;926;p54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/>
              <a:t>34%</a:t>
            </a:r>
            <a:endParaRPr/>
          </a:p>
        </p:txBody>
      </p:sp>
      <p:grpSp>
        <p:nvGrpSpPr>
          <p:cNvPr id="927" name="Google Shape;927;p54"/>
          <p:cNvGrpSpPr/>
          <p:nvPr/>
        </p:nvGrpSpPr>
        <p:grpSpPr>
          <a:xfrm>
            <a:off x="1000507" y="2087349"/>
            <a:ext cx="7287270" cy="2462259"/>
            <a:chOff x="1000507" y="2087349"/>
            <a:chExt cx="7287270" cy="2462259"/>
          </a:xfrm>
        </p:grpSpPr>
        <p:sp>
          <p:nvSpPr>
            <p:cNvPr id="928" name="Google Shape;928;p54"/>
            <p:cNvSpPr/>
            <p:nvPr/>
          </p:nvSpPr>
          <p:spPr>
            <a:xfrm>
              <a:off x="4563968" y="2632011"/>
              <a:ext cx="97800" cy="97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grpSp>
          <p:nvGrpSpPr>
            <p:cNvPr id="929" name="Google Shape;929;p54"/>
            <p:cNvGrpSpPr/>
            <p:nvPr/>
          </p:nvGrpSpPr>
          <p:grpSpPr>
            <a:xfrm>
              <a:off x="1000507" y="2087349"/>
              <a:ext cx="7287270" cy="2462259"/>
              <a:chOff x="626965" y="1904026"/>
              <a:chExt cx="8041569" cy="2717125"/>
            </a:xfrm>
          </p:grpSpPr>
          <p:sp>
            <p:nvSpPr>
              <p:cNvPr id="930" name="Google Shape;930;p54"/>
              <p:cNvSpPr/>
              <p:nvPr/>
            </p:nvSpPr>
            <p:spPr>
              <a:xfrm>
                <a:off x="1354081" y="3564476"/>
                <a:ext cx="108000" cy="10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31" name="Google Shape;931;p54"/>
              <p:cNvSpPr/>
              <p:nvPr/>
            </p:nvSpPr>
            <p:spPr>
              <a:xfrm>
                <a:off x="2966885" y="3188276"/>
                <a:ext cx="108000" cy="10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32" name="Google Shape;932;p54"/>
              <p:cNvSpPr/>
              <p:nvPr/>
            </p:nvSpPr>
            <p:spPr>
              <a:xfrm>
                <a:off x="7706357" y="1938214"/>
                <a:ext cx="108000" cy="10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cxnSp>
            <p:nvCxnSpPr>
              <p:cNvPr id="933" name="Google Shape;933;p54"/>
              <p:cNvCxnSpPr/>
              <p:nvPr/>
            </p:nvCxnSpPr>
            <p:spPr>
              <a:xfrm flipH="1" rot="10800000">
                <a:off x="626965" y="3617351"/>
                <a:ext cx="790200" cy="100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4" name="Google Shape;934;p54"/>
              <p:cNvCxnSpPr/>
              <p:nvPr/>
            </p:nvCxnSpPr>
            <p:spPr>
              <a:xfrm flipH="1" rot="10800000">
                <a:off x="1412022" y="3243326"/>
                <a:ext cx="1611600" cy="378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5" name="Google Shape;935;p54"/>
              <p:cNvCxnSpPr/>
              <p:nvPr/>
            </p:nvCxnSpPr>
            <p:spPr>
              <a:xfrm flipH="1" rot="10800000">
                <a:off x="3021139" y="2558226"/>
                <a:ext cx="1583100" cy="684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6" name="Google Shape;936;p54"/>
              <p:cNvCxnSpPr/>
              <p:nvPr/>
            </p:nvCxnSpPr>
            <p:spPr>
              <a:xfrm flipH="1" rot="10800000">
                <a:off x="4601154" y="2208926"/>
                <a:ext cx="1584900" cy="338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7" name="Google Shape;937;p54"/>
              <p:cNvCxnSpPr/>
              <p:nvPr/>
            </p:nvCxnSpPr>
            <p:spPr>
              <a:xfrm flipH="1" rot="10800000">
                <a:off x="6185038" y="1986351"/>
                <a:ext cx="1578300" cy="222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938" name="Google Shape;938;p54"/>
              <p:cNvSpPr/>
              <p:nvPr/>
            </p:nvSpPr>
            <p:spPr>
              <a:xfrm>
                <a:off x="1468434" y="3668651"/>
                <a:ext cx="789900" cy="1764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39" name="Google Shape;939;p54"/>
              <p:cNvSpPr/>
              <p:nvPr/>
            </p:nvSpPr>
            <p:spPr>
              <a:xfrm>
                <a:off x="3084184" y="3296264"/>
                <a:ext cx="789900" cy="1764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40" name="Google Shape;940;p54"/>
              <p:cNvSpPr/>
              <p:nvPr/>
            </p:nvSpPr>
            <p:spPr>
              <a:xfrm>
                <a:off x="4659922" y="2603126"/>
                <a:ext cx="789900" cy="1764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41" name="Google Shape;941;p54"/>
              <p:cNvSpPr/>
              <p:nvPr/>
            </p:nvSpPr>
            <p:spPr>
              <a:xfrm>
                <a:off x="6240147" y="2261726"/>
                <a:ext cx="789900" cy="1764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42" name="Google Shape;942;p54"/>
              <p:cNvSpPr/>
              <p:nvPr/>
            </p:nvSpPr>
            <p:spPr>
              <a:xfrm>
                <a:off x="7878634" y="1904026"/>
                <a:ext cx="789900" cy="176400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943" name="Google Shape;943;p54"/>
              <p:cNvSpPr/>
              <p:nvPr/>
            </p:nvSpPr>
            <p:spPr>
              <a:xfrm>
                <a:off x="6126879" y="2153714"/>
                <a:ext cx="108000" cy="108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  <p:grpSp>
        <p:nvGrpSpPr>
          <p:cNvPr id="944" name="Google Shape;944;p54"/>
          <p:cNvGrpSpPr/>
          <p:nvPr/>
        </p:nvGrpSpPr>
        <p:grpSpPr>
          <a:xfrm>
            <a:off x="1763150" y="2087376"/>
            <a:ext cx="6524633" cy="1758953"/>
            <a:chOff x="1468548" y="1904056"/>
            <a:chExt cx="7199992" cy="1941021"/>
          </a:xfrm>
        </p:grpSpPr>
        <p:sp>
          <p:nvSpPr>
            <p:cNvPr id="945" name="Google Shape;945;p54"/>
            <p:cNvSpPr txBox="1"/>
            <p:nvPr/>
          </p:nvSpPr>
          <p:spPr>
            <a:xfrm>
              <a:off x="3084307" y="3296297"/>
              <a:ext cx="7899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00%</a:t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46" name="Google Shape;946;p54"/>
            <p:cNvSpPr txBox="1"/>
            <p:nvPr/>
          </p:nvSpPr>
          <p:spPr>
            <a:xfrm>
              <a:off x="4660035" y="2603156"/>
              <a:ext cx="7899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00%</a:t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47" name="Google Shape;947;p54"/>
            <p:cNvSpPr txBox="1"/>
            <p:nvPr/>
          </p:nvSpPr>
          <p:spPr>
            <a:xfrm>
              <a:off x="6240260" y="2261758"/>
              <a:ext cx="7899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00%</a:t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48" name="Google Shape;948;p54"/>
            <p:cNvSpPr txBox="1"/>
            <p:nvPr/>
          </p:nvSpPr>
          <p:spPr>
            <a:xfrm>
              <a:off x="7878640" y="1904056"/>
              <a:ext cx="7899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00%</a:t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49" name="Google Shape;949;p54"/>
            <p:cNvSpPr txBox="1"/>
            <p:nvPr/>
          </p:nvSpPr>
          <p:spPr>
            <a:xfrm>
              <a:off x="1468548" y="3668677"/>
              <a:ext cx="789900" cy="1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dk1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00%</a:t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1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4" name="Google Shape;954;p55"/>
          <p:cNvGrpSpPr/>
          <p:nvPr/>
        </p:nvGrpSpPr>
        <p:grpSpPr>
          <a:xfrm>
            <a:off x="590550" y="190500"/>
            <a:ext cx="7620000" cy="857250"/>
            <a:chOff x="0" y="0"/>
            <a:chExt cx="7620000" cy="857250"/>
          </a:xfrm>
        </p:grpSpPr>
        <p:sp>
          <p:nvSpPr>
            <p:cNvPr id="955" name="Google Shape;955;p55"/>
            <p:cNvSpPr txBox="1"/>
            <p:nvPr/>
          </p:nvSpPr>
          <p:spPr>
            <a:xfrm>
              <a:off x="0" y="0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00000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METRICS</a:t>
              </a:r>
              <a:endParaRPr b="1" sz="1000">
                <a:solidFill>
                  <a:srgbClr val="000000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56" name="Google Shape;956;p55"/>
            <p:cNvSpPr txBox="1"/>
            <p:nvPr/>
          </p:nvSpPr>
          <p:spPr>
            <a:xfrm>
              <a:off x="0" y="28575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700">
                  <a:solidFill>
                    <a:srgbClr val="000000"/>
                  </a:solidFill>
                  <a:latin typeface="Neuton Light"/>
                  <a:ea typeface="Neuton Light"/>
                  <a:cs typeface="Neuton Light"/>
                  <a:sym typeface="Neuton Light"/>
                </a:rPr>
                <a:t>Projected results</a:t>
              </a:r>
              <a:endParaRPr b="0" sz="3700">
                <a:solidFill>
                  <a:srgbClr val="000000"/>
                </a:solidFill>
                <a:latin typeface="Neuton Light"/>
                <a:ea typeface="Neuton Light"/>
                <a:cs typeface="Neuton Light"/>
                <a:sym typeface="Neuton Light"/>
              </a:endParaRPr>
            </a:p>
          </p:txBody>
        </p:sp>
      </p:grpSp>
      <p:grpSp>
        <p:nvGrpSpPr>
          <p:cNvPr id="957" name="Google Shape;957;p55"/>
          <p:cNvGrpSpPr/>
          <p:nvPr/>
        </p:nvGrpSpPr>
        <p:grpSpPr>
          <a:xfrm>
            <a:off x="590550" y="1333500"/>
            <a:ext cx="2000100" cy="1524000"/>
            <a:chOff x="0" y="0"/>
            <a:chExt cx="2000100" cy="1524000"/>
          </a:xfrm>
        </p:grpSpPr>
        <p:sp>
          <p:nvSpPr>
            <p:cNvPr id="958" name="Google Shape;958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54</a:t>
              </a:r>
              <a:r>
                <a:rPr b="0" lang="en" sz="153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days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60" name="Google Shape;960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Expansion-ready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61" name="Google Shape;961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Gold-set testing keeps quality measurable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62" name="Google Shape;962;p55"/>
          <p:cNvGrpSpPr/>
          <p:nvPr/>
        </p:nvGrpSpPr>
        <p:grpSpPr>
          <a:xfrm>
            <a:off x="2686050" y="1333500"/>
            <a:ext cx="2000100" cy="1524000"/>
            <a:chOff x="0" y="0"/>
            <a:chExt cx="2000100" cy="1524000"/>
          </a:xfrm>
        </p:grpSpPr>
        <p:sp>
          <p:nvSpPr>
            <p:cNvPr id="963" name="Google Shape;963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61%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65" name="Google Shape;965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Monthly Active Admins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66" name="Google Shape;966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Reduced support tickets from resolved queries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67" name="Google Shape;967;p55"/>
          <p:cNvGrpSpPr/>
          <p:nvPr/>
        </p:nvGrpSpPr>
        <p:grpSpPr>
          <a:xfrm>
            <a:off x="4781550" y="1333500"/>
            <a:ext cx="2000100" cy="1524000"/>
            <a:chOff x="0" y="0"/>
            <a:chExt cx="2000100" cy="1524000"/>
          </a:xfrm>
        </p:grpSpPr>
        <p:sp>
          <p:nvSpPr>
            <p:cNvPr id="968" name="Google Shape;968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27%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70" name="Google Shape;970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Answer Accuracy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71" name="Google Shape;971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Faster cycles with early document sharing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72" name="Google Shape;972;p55"/>
          <p:cNvGrpSpPr/>
          <p:nvPr/>
        </p:nvGrpSpPr>
        <p:grpSpPr>
          <a:xfrm>
            <a:off x="6877050" y="1333500"/>
            <a:ext cx="2000100" cy="1524000"/>
            <a:chOff x="0" y="0"/>
            <a:chExt cx="2000100" cy="1524000"/>
          </a:xfrm>
        </p:grpSpPr>
        <p:sp>
          <p:nvSpPr>
            <p:cNvPr id="973" name="Google Shape;973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13%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75" name="Google Shape;975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Article Deflection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76" name="Google Shape;976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Improved conversion via QBR success scores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77" name="Google Shape;977;p55"/>
          <p:cNvGrpSpPr/>
          <p:nvPr/>
        </p:nvGrpSpPr>
        <p:grpSpPr>
          <a:xfrm>
            <a:off x="590550" y="3048000"/>
            <a:ext cx="2000100" cy="1524000"/>
            <a:chOff x="0" y="0"/>
            <a:chExt cx="2000100" cy="1524000"/>
          </a:xfrm>
        </p:grpSpPr>
        <p:sp>
          <p:nvSpPr>
            <p:cNvPr id="978" name="Google Shape;978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19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80" name="Google Shape;980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Lead-to-Demo Rate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81" name="Google Shape;981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Adoption confirms internal champion strength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82" name="Google Shape;982;p55"/>
          <p:cNvGrpSpPr/>
          <p:nvPr/>
        </p:nvGrpSpPr>
        <p:grpSpPr>
          <a:xfrm>
            <a:off x="2686050" y="3048000"/>
            <a:ext cx="2000100" cy="1524000"/>
            <a:chOff x="0" y="0"/>
            <a:chExt cx="2000100" cy="1524000"/>
          </a:xfrm>
        </p:grpSpPr>
        <p:sp>
          <p:nvSpPr>
            <p:cNvPr id="983" name="Google Shape;983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148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85" name="Google Shape;985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Demo-to-Pilot Rate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86" name="Google Shape;986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Pilot packaging reduces decision friction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87" name="Google Shape;987;p55"/>
          <p:cNvGrpSpPr/>
          <p:nvPr/>
        </p:nvGrpSpPr>
        <p:grpSpPr>
          <a:xfrm>
            <a:off x="4781550" y="3048000"/>
            <a:ext cx="2000100" cy="1524000"/>
            <a:chOff x="0" y="0"/>
            <a:chExt cx="2000100" cy="1524000"/>
          </a:xfrm>
        </p:grpSpPr>
        <p:sp>
          <p:nvSpPr>
            <p:cNvPr id="988" name="Google Shape;988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91%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90" name="Google Shape;990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Pilot-to-Paid Rate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91" name="Google Shape;991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Webinars drive better product education conversion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992" name="Google Shape;992;p55"/>
          <p:cNvGrpSpPr/>
          <p:nvPr/>
        </p:nvGrpSpPr>
        <p:grpSpPr>
          <a:xfrm>
            <a:off x="6877050" y="3048000"/>
            <a:ext cx="2000100" cy="1524000"/>
            <a:chOff x="0" y="0"/>
            <a:chExt cx="2000100" cy="1524000"/>
          </a:xfrm>
        </p:grpSpPr>
        <p:sp>
          <p:nvSpPr>
            <p:cNvPr id="993" name="Google Shape;993;p55"/>
            <p:cNvSpPr/>
            <p:nvPr/>
          </p:nvSpPr>
          <p:spPr>
            <a:xfrm>
              <a:off x="0" y="0"/>
              <a:ext cx="20001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55"/>
            <p:cNvSpPr txBox="1"/>
            <p:nvPr/>
          </p:nvSpPr>
          <p:spPr>
            <a:xfrm>
              <a:off x="142875" y="142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3060">
                  <a:solidFill>
                    <a:srgbClr val="000000"/>
                  </a:solidFill>
                  <a:latin typeface="Hanken Grotesk Light"/>
                  <a:ea typeface="Hanken Grotesk Light"/>
                  <a:cs typeface="Hanken Grotesk Light"/>
                  <a:sym typeface="Hanken Grotesk Light"/>
                </a:rPr>
                <a:t>22%</a:t>
              </a:r>
              <a:endParaRPr b="0" sz="3060">
                <a:solidFill>
                  <a:srgbClr val="000000"/>
                </a:solidFill>
                <a:latin typeface="Hanken Grotesk Light"/>
                <a:ea typeface="Hanken Grotesk Light"/>
                <a:cs typeface="Hanken Grotesk Light"/>
                <a:sym typeface="Hanken Grotesk Light"/>
              </a:endParaRPr>
            </a:p>
          </p:txBody>
        </p:sp>
        <p:sp>
          <p:nvSpPr>
            <p:cNvPr id="995" name="Google Shape;995;p55"/>
            <p:cNvSpPr txBox="1"/>
            <p:nvPr/>
          </p:nvSpPr>
          <p:spPr>
            <a:xfrm>
              <a:off x="142875" y="666750"/>
              <a:ext cx="1714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0000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Average Deal Cycle</a:t>
              </a:r>
              <a:endParaRPr b="0" sz="1000">
                <a:solidFill>
                  <a:srgbClr val="000000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</p:txBody>
        </p:sp>
        <p:sp>
          <p:nvSpPr>
            <p:cNvPr id="996" name="Google Shape;996;p55"/>
            <p:cNvSpPr txBox="1"/>
            <p:nvPr/>
          </p:nvSpPr>
          <p:spPr>
            <a:xfrm>
              <a:off x="142875" y="904875"/>
              <a:ext cx="1714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3333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Readiness links usage depth and CS sentiment</a:t>
              </a:r>
              <a:endParaRPr b="0" sz="1000">
                <a:solidFill>
                  <a:srgbClr val="33333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Google Shape;1001;p56"/>
          <p:cNvGrpSpPr/>
          <p:nvPr/>
        </p:nvGrpSpPr>
        <p:grpSpPr>
          <a:xfrm>
            <a:off x="193234" y="1875421"/>
            <a:ext cx="8760034" cy="2790032"/>
            <a:chOff x="193234" y="1875421"/>
            <a:chExt cx="8760034" cy="2790032"/>
          </a:xfrm>
        </p:grpSpPr>
        <p:grpSp>
          <p:nvGrpSpPr>
            <p:cNvPr id="1002" name="Google Shape;1002;p56"/>
            <p:cNvGrpSpPr/>
            <p:nvPr/>
          </p:nvGrpSpPr>
          <p:grpSpPr>
            <a:xfrm>
              <a:off x="193257" y="1875421"/>
              <a:ext cx="8760011" cy="270002"/>
              <a:chOff x="192050" y="3966950"/>
              <a:chExt cx="8760011" cy="923400"/>
            </a:xfrm>
          </p:grpSpPr>
          <p:sp>
            <p:nvSpPr>
              <p:cNvPr id="1003" name="Google Shape;1003;p56"/>
              <p:cNvSpPr/>
              <p:nvPr/>
            </p:nvSpPr>
            <p:spPr>
              <a:xfrm>
                <a:off x="192061" y="3966950"/>
                <a:ext cx="8760000" cy="923400"/>
              </a:xfrm>
              <a:prstGeom prst="roundRect">
                <a:avLst>
                  <a:gd fmla="val 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descr="A series of horizontal bar graphs visualizing sales growth, revenue, and return on investment. " id="1004" name="Google Shape;1004;p56"/>
              <p:cNvSpPr/>
              <p:nvPr/>
            </p:nvSpPr>
            <p:spPr>
              <a:xfrm>
                <a:off x="192050" y="3966950"/>
                <a:ext cx="2174400" cy="9234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1005" name="Google Shape;1005;p56"/>
            <p:cNvGrpSpPr/>
            <p:nvPr/>
          </p:nvGrpSpPr>
          <p:grpSpPr>
            <a:xfrm>
              <a:off x="193234" y="3136371"/>
              <a:ext cx="8760034" cy="270007"/>
              <a:chOff x="192027" y="3966950"/>
              <a:chExt cx="8760034" cy="923417"/>
            </a:xfrm>
          </p:grpSpPr>
          <p:sp>
            <p:nvSpPr>
              <p:cNvPr id="1006" name="Google Shape;1006;p56"/>
              <p:cNvSpPr/>
              <p:nvPr/>
            </p:nvSpPr>
            <p:spPr>
              <a:xfrm>
                <a:off x="192061" y="3966950"/>
                <a:ext cx="8760000" cy="923400"/>
              </a:xfrm>
              <a:prstGeom prst="roundRect">
                <a:avLst>
                  <a:gd fmla="val 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007" name="Google Shape;1007;p56"/>
              <p:cNvSpPr/>
              <p:nvPr/>
            </p:nvSpPr>
            <p:spPr>
              <a:xfrm>
                <a:off x="192027" y="3966967"/>
                <a:ext cx="7259400" cy="9234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  <p:grpSp>
          <p:nvGrpSpPr>
            <p:cNvPr id="1008" name="Google Shape;1008;p56"/>
            <p:cNvGrpSpPr/>
            <p:nvPr/>
          </p:nvGrpSpPr>
          <p:grpSpPr>
            <a:xfrm>
              <a:off x="193243" y="4395446"/>
              <a:ext cx="8760025" cy="270007"/>
              <a:chOff x="192036" y="3966950"/>
              <a:chExt cx="8760025" cy="923417"/>
            </a:xfrm>
          </p:grpSpPr>
          <p:sp>
            <p:nvSpPr>
              <p:cNvPr id="1009" name="Google Shape;1009;p56"/>
              <p:cNvSpPr/>
              <p:nvPr/>
            </p:nvSpPr>
            <p:spPr>
              <a:xfrm>
                <a:off x="192061" y="3966950"/>
                <a:ext cx="8760000" cy="923400"/>
              </a:xfrm>
              <a:prstGeom prst="roundRect">
                <a:avLst>
                  <a:gd fmla="val 0" name="adj"/>
                </a:avLst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  <p:sp>
            <p:nvSpPr>
              <p:cNvPr id="1010" name="Google Shape;1010;p56"/>
              <p:cNvSpPr/>
              <p:nvPr/>
            </p:nvSpPr>
            <p:spPr>
              <a:xfrm>
                <a:off x="192036" y="3966967"/>
                <a:ext cx="4382400" cy="923400"/>
              </a:xfrm>
              <a:prstGeom prst="roundRect">
                <a:avLst>
                  <a:gd fmla="val 0" name="adj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endParaRPr>
              </a:p>
            </p:txBody>
          </p:sp>
        </p:grpSp>
      </p:grpSp>
      <p:sp>
        <p:nvSpPr>
          <p:cNvPr id="1011" name="Google Shape;1011;p56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4000">
                <a:latin typeface="Hanken Grotesk Light"/>
                <a:ea typeface="Hanken Grotesk Light"/>
                <a:cs typeface="Hanken Grotesk Light"/>
                <a:sym typeface="Hanken Grotesk Light"/>
              </a:rPr>
              <a:t>146%</a:t>
            </a:r>
            <a:endParaRPr/>
          </a:p>
        </p:txBody>
      </p:sp>
      <p:sp>
        <p:nvSpPr>
          <p:cNvPr id="1012" name="Google Shape;1012;p56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Return on investment</a:t>
            </a:r>
            <a:endParaRPr/>
          </a:p>
        </p:txBody>
      </p:sp>
      <p:sp>
        <p:nvSpPr>
          <p:cNvPr id="1013" name="Google Shape;1013;p56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 sz="4000">
                <a:latin typeface="Hanken Grotesk Light"/>
                <a:ea typeface="Hanken Grotesk Light"/>
                <a:cs typeface="Hanken Grotesk Light"/>
                <a:sym typeface="Hanken Grotesk Light"/>
              </a:rPr>
              <a:t>$6.4M</a:t>
            </a:r>
            <a:endParaRPr/>
          </a:p>
        </p:txBody>
      </p:sp>
      <p:sp>
        <p:nvSpPr>
          <p:cNvPr id="1014" name="Google Shape;1014;p56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" sz="1200"/>
              <a:t>Revenue</a:t>
            </a:r>
            <a:endParaRPr/>
          </a:p>
        </p:txBody>
      </p:sp>
      <p:sp>
        <p:nvSpPr>
          <p:cNvPr id="1015" name="Google Shape;1015;p56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" sz="4000">
                <a:latin typeface="Hanken Grotesk Light"/>
                <a:ea typeface="Hanken Grotesk Light"/>
                <a:cs typeface="Hanken Grotesk Light"/>
                <a:sym typeface="Hanken Grotesk Light"/>
              </a:rPr>
              <a:t>31%</a:t>
            </a:r>
            <a:endParaRPr/>
          </a:p>
        </p:txBody>
      </p:sp>
      <p:sp>
        <p:nvSpPr>
          <p:cNvPr id="1016" name="Google Shape;1016;p56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4000" spcFirstLastPara="1" rIns="0" wrap="square" tIns="54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Sales growth</a:t>
            </a:r>
            <a:endParaRPr/>
          </a:p>
        </p:txBody>
      </p:sp>
      <p:sp>
        <p:nvSpPr>
          <p:cNvPr id="1017" name="Google Shape;1017;p56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METRICS</a:t>
            </a:r>
            <a:endParaRPr/>
          </a:p>
        </p:txBody>
      </p:sp>
      <p:sp>
        <p:nvSpPr>
          <p:cNvPr id="1018" name="Google Shape;1018;p56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Projected results</a:t>
            </a:r>
            <a:endParaRPr/>
          </a:p>
        </p:txBody>
      </p:sp>
      <p:sp>
        <p:nvSpPr>
          <p:cNvPr id="1019" name="Google Shape;1019;p56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ROI improves as onboarding labor per account decreases and retention rises.</a:t>
            </a:r>
            <a:endParaRPr/>
          </a:p>
        </p:txBody>
      </p:sp>
      <p:sp>
        <p:nvSpPr>
          <p:cNvPr id="1020" name="Google Shape;1020;p56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Revenue includes $1.2M new ARR plus expansion in existing pilot accounts.</a:t>
            </a:r>
            <a:endParaRPr/>
          </a:p>
        </p:txBody>
      </p:sp>
      <p:sp>
        <p:nvSpPr>
          <p:cNvPr id="1021" name="Google Shape;1021;p56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Sales growth is driven by higher pilot conversion and stronger partner referrals.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57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 from existing pilot accounts.</a:t>
            </a:r>
            <a:endParaRPr/>
          </a:p>
        </p:txBody>
      </p:sp>
      <p:sp>
        <p:nvSpPr>
          <p:cNvPr id="1027" name="Google Shape;1027;p57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Partner-sourced pipeline from agencies and consultants.</a:t>
            </a:r>
            <a:endParaRPr/>
          </a:p>
        </p:txBody>
      </p:sp>
      <p:sp>
        <p:nvSpPr>
          <p:cNvPr id="1028" name="Google Shape;1028;p57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Germany launch.</a:t>
            </a:r>
            <a:endParaRPr/>
          </a:p>
        </p:txBody>
      </p:sp>
      <p:sp>
        <p:nvSpPr>
          <p:cNvPr id="1029" name="Google Shape;1029;p57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Spain launch.</a:t>
            </a:r>
            <a:endParaRPr/>
          </a:p>
        </p:txBody>
      </p:sp>
      <p:sp>
        <p:nvSpPr>
          <p:cNvPr id="1030" name="Google Shape;1030;p57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quarterly upsell value per eligible account.</a:t>
            </a:r>
            <a:endParaRPr/>
          </a:p>
        </p:txBody>
      </p:sp>
      <p:sp>
        <p:nvSpPr>
          <p:cNvPr id="1031" name="Google Shape;1031;p57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annual savings from reduced manual onboarding effort.</a:t>
            </a:r>
            <a:endParaRPr/>
          </a:p>
        </p:txBody>
      </p:sp>
      <p:sp>
        <p:nvSpPr>
          <p:cNvPr id="1032" name="Google Shape;1032;p57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$1.9M</a:t>
            </a:r>
            <a:endParaRPr/>
          </a:p>
        </p:txBody>
      </p:sp>
      <p:sp>
        <p:nvSpPr>
          <p:cNvPr id="1033" name="Google Shape;1033;p57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$0.8M</a:t>
            </a:r>
            <a:endParaRPr/>
          </a:p>
        </p:txBody>
      </p:sp>
      <p:sp>
        <p:nvSpPr>
          <p:cNvPr id="1034" name="Google Shape;1034;p57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$1.1M</a:t>
            </a:r>
            <a:endParaRPr/>
          </a:p>
        </p:txBody>
      </p:sp>
      <p:sp>
        <p:nvSpPr>
          <p:cNvPr id="1035" name="Google Shape;1035;p57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$0.9M</a:t>
            </a:r>
            <a:endParaRPr/>
          </a:p>
        </p:txBody>
      </p:sp>
      <p:sp>
        <p:nvSpPr>
          <p:cNvPr id="1036" name="Google Shape;1036;p57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$24K</a:t>
            </a:r>
            <a:endParaRPr/>
          </a:p>
        </p:txBody>
      </p:sp>
      <p:sp>
        <p:nvSpPr>
          <p:cNvPr id="1037" name="Google Shape;1037;p57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$180K</a:t>
            </a:r>
            <a:endParaRPr/>
          </a:p>
        </p:txBody>
      </p:sp>
      <p:sp>
        <p:nvSpPr>
          <p:cNvPr id="1038" name="Google Shape;1038;p57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</a:t>
            </a:r>
            <a:endParaRPr/>
          </a:p>
        </p:txBody>
      </p:sp>
      <p:sp>
        <p:nvSpPr>
          <p:cNvPr id="1039" name="Google Shape;1039;p57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 pipeline</a:t>
            </a:r>
            <a:endParaRPr/>
          </a:p>
        </p:txBody>
      </p:sp>
      <p:sp>
        <p:nvSpPr>
          <p:cNvPr id="1040" name="Google Shape;1040;p57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pipeline</a:t>
            </a:r>
            <a:endParaRPr/>
          </a:p>
        </p:txBody>
      </p:sp>
      <p:sp>
        <p:nvSpPr>
          <p:cNvPr id="1041" name="Google Shape;1041;p57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Spain pipeline</a:t>
            </a:r>
            <a:endParaRPr/>
          </a:p>
        </p:txBody>
      </p:sp>
      <p:sp>
        <p:nvSpPr>
          <p:cNvPr id="1042" name="Google Shape;1042;p57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Avg upsell</a:t>
            </a:r>
            <a:endParaRPr/>
          </a:p>
        </p:txBody>
      </p:sp>
      <p:sp>
        <p:nvSpPr>
          <p:cNvPr id="1043" name="Google Shape;1043;p57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Annual labor savings</a:t>
            </a:r>
            <a:endParaRPr/>
          </a:p>
        </p:txBody>
      </p:sp>
      <p:sp>
        <p:nvSpPr>
          <p:cNvPr id="1044" name="Google Shape;1044;p5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Projected results</a:t>
            </a:r>
            <a:endParaRPr/>
          </a:p>
        </p:txBody>
      </p:sp>
      <p:sp>
        <p:nvSpPr>
          <p:cNvPr id="1045" name="Google Shape;1045;p5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METRICS</a:t>
            </a:r>
            <a:endParaRPr/>
          </a:p>
        </p:txBody>
      </p:sp>
      <p:cxnSp>
        <p:nvCxnSpPr>
          <p:cNvPr id="1046" name="Google Shape;1046;p57"/>
          <p:cNvCxnSpPr/>
          <p:nvPr/>
        </p:nvCxnSpPr>
        <p:spPr>
          <a:xfrm rot="10800000">
            <a:off x="122" y="14023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57"/>
          <p:cNvCxnSpPr/>
          <p:nvPr/>
        </p:nvCxnSpPr>
        <p:spPr>
          <a:xfrm rot="10800000">
            <a:off x="2700" y="19732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57"/>
          <p:cNvCxnSpPr/>
          <p:nvPr/>
        </p:nvCxnSpPr>
        <p:spPr>
          <a:xfrm rot="10800000">
            <a:off x="122" y="25515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57"/>
          <p:cNvCxnSpPr/>
          <p:nvPr/>
        </p:nvCxnSpPr>
        <p:spPr>
          <a:xfrm rot="10800000">
            <a:off x="2700" y="31224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0" name="Google Shape;1050;p57"/>
          <p:cNvCxnSpPr/>
          <p:nvPr/>
        </p:nvCxnSpPr>
        <p:spPr>
          <a:xfrm rot="10800000">
            <a:off x="122" y="36933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57"/>
          <p:cNvCxnSpPr/>
          <p:nvPr/>
        </p:nvCxnSpPr>
        <p:spPr>
          <a:xfrm rot="10800000">
            <a:off x="2700" y="42642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7" name="Google Shape;1057;p5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8" name="Google Shape;1058;p5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059" name="Google Shape;1059;p5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060" name="Google Shape;1060;p58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58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58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58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58"/>
          <p:cNvCxnSpPr/>
          <p:nvPr/>
        </p:nvCxnSpPr>
        <p:spPr>
          <a:xfrm rot="10800000">
            <a:off x="406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5" name="Google Shape;1065;p58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 timeline</a:t>
            </a:r>
            <a:endParaRPr/>
          </a:p>
        </p:txBody>
      </p:sp>
      <p:sp>
        <p:nvSpPr>
          <p:cNvPr id="1066" name="Google Shape;1066;p5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1067" name="Google Shape;1067;p5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1068" name="Google Shape;1068;p5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1069" name="Google Shape;1069;p58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Pilot discovery and baseline audit</a:t>
            </a:r>
            <a:endParaRPr/>
          </a:p>
        </p:txBody>
      </p:sp>
      <p:sp>
        <p:nvSpPr>
          <p:cNvPr id="1070" name="Google Shape;1070;p58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Executive scorecard adopted in QBRs</a:t>
            </a:r>
            <a:endParaRPr/>
          </a:p>
        </p:txBody>
      </p:sp>
      <p:sp>
        <p:nvSpPr>
          <p:cNvPr id="1071" name="Google Shape;1071;p58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and Spain launch package live</a:t>
            </a:r>
            <a:endParaRPr/>
          </a:p>
        </p:txBody>
      </p:sp>
      <p:sp>
        <p:nvSpPr>
          <p:cNvPr id="1072" name="Google Shape;1072;p58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Sales and CS enablement complete</a:t>
            </a:r>
            <a:endParaRPr/>
          </a:p>
        </p:txBody>
      </p:sp>
      <p:sp>
        <p:nvSpPr>
          <p:cNvPr id="1073" name="Google Shape;1073;p58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Guided Rollout beta and event tracking</a:t>
            </a:r>
            <a:endParaRPr/>
          </a:p>
        </p:txBody>
      </p:sp>
      <p:sp>
        <p:nvSpPr>
          <p:cNvPr id="1074" name="Google Shape;1074;p58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3</a:t>
            </a:r>
            <a:endParaRPr/>
          </a:p>
        </p:txBody>
      </p:sp>
      <p:sp>
        <p:nvSpPr>
          <p:cNvPr id="1075" name="Google Shape;1075;p58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1</a:t>
            </a:r>
            <a:endParaRPr/>
          </a:p>
        </p:txBody>
      </p:sp>
      <p:sp>
        <p:nvSpPr>
          <p:cNvPr id="1076" name="Google Shape;1076;p58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2</a:t>
            </a:r>
            <a:endParaRPr/>
          </a:p>
        </p:txBody>
      </p:sp>
      <p:sp>
        <p:nvSpPr>
          <p:cNvPr id="1077" name="Google Shape;1077;p58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4</a:t>
            </a:r>
            <a:endParaRPr/>
          </a:p>
        </p:txBody>
      </p:sp>
      <p:sp>
        <p:nvSpPr>
          <p:cNvPr id="1078" name="Google Shape;1078;p58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5</a:t>
            </a:r>
            <a:endParaRPr/>
          </a:p>
        </p:txBody>
      </p:sp>
      <p:sp>
        <p:nvSpPr>
          <p:cNvPr id="1079" name="Google Shape;1079;p58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 2027</a:t>
            </a:r>
            <a:endParaRPr/>
          </a:p>
        </p:txBody>
      </p:sp>
      <p:sp>
        <p:nvSpPr>
          <p:cNvPr id="1080" name="Google Shape;1080;p58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2026</a:t>
            </a:r>
            <a:endParaRPr/>
          </a:p>
        </p:txBody>
      </p:sp>
      <p:sp>
        <p:nvSpPr>
          <p:cNvPr id="1081" name="Google Shape;1081;p58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Q4 2026</a:t>
            </a:r>
            <a:endParaRPr/>
          </a:p>
        </p:txBody>
      </p:sp>
      <p:sp>
        <p:nvSpPr>
          <p:cNvPr id="1082" name="Google Shape;1082;p58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Q2 2027</a:t>
            </a:r>
            <a:endParaRPr/>
          </a:p>
        </p:txBody>
      </p:sp>
      <p:sp>
        <p:nvSpPr>
          <p:cNvPr id="1083" name="Google Shape;1083;p58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2027</a:t>
            </a:r>
            <a:endParaRPr/>
          </a:p>
        </p:txBody>
      </p:sp>
      <p:sp>
        <p:nvSpPr>
          <p:cNvPr id="1084" name="Google Shape;1084;p5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9" name="Google Shape;1089;p59"/>
          <p:cNvCxnSpPr/>
          <p:nvPr/>
        </p:nvCxnSpPr>
        <p:spPr>
          <a:xfrm rot="10800000">
            <a:off x="17816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0" name="Google Shape;1090;p59"/>
          <p:cNvCxnSpPr/>
          <p:nvPr/>
        </p:nvCxnSpPr>
        <p:spPr>
          <a:xfrm rot="10800000">
            <a:off x="-26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59"/>
          <p:cNvCxnSpPr/>
          <p:nvPr/>
        </p:nvCxnSpPr>
        <p:spPr>
          <a:xfrm rot="10800000">
            <a:off x="-26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59"/>
          <p:cNvCxnSpPr/>
          <p:nvPr/>
        </p:nvCxnSpPr>
        <p:spPr>
          <a:xfrm rot="10800000">
            <a:off x="-1994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59"/>
          <p:cNvCxnSpPr/>
          <p:nvPr/>
        </p:nvCxnSpPr>
        <p:spPr>
          <a:xfrm rot="10800000">
            <a:off x="3008738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4" name="Google Shape;1094;p59"/>
          <p:cNvCxnSpPr/>
          <p:nvPr/>
        </p:nvCxnSpPr>
        <p:spPr>
          <a:xfrm rot="10800000">
            <a:off x="4235800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5" name="Google Shape;1095;p59"/>
          <p:cNvCxnSpPr/>
          <p:nvPr/>
        </p:nvCxnSpPr>
        <p:spPr>
          <a:xfrm rot="10800000">
            <a:off x="5462825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6" name="Google Shape;1096;p59"/>
          <p:cNvCxnSpPr/>
          <p:nvPr/>
        </p:nvCxnSpPr>
        <p:spPr>
          <a:xfrm rot="10800000">
            <a:off x="668992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7" name="Google Shape;1097;p59"/>
          <p:cNvCxnSpPr/>
          <p:nvPr/>
        </p:nvCxnSpPr>
        <p:spPr>
          <a:xfrm rot="10800000">
            <a:off x="79169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98" name="Google Shape;1098;p59"/>
          <p:cNvCxnSpPr/>
          <p:nvPr/>
        </p:nvCxnSpPr>
        <p:spPr>
          <a:xfrm rot="10800000">
            <a:off x="-162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9" name="Google Shape;1099;p59"/>
          <p:cNvCxnSpPr/>
          <p:nvPr/>
        </p:nvCxnSpPr>
        <p:spPr>
          <a:xfrm rot="10800000">
            <a:off x="-162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00" name="Google Shape;1100;p59"/>
          <p:cNvGrpSpPr/>
          <p:nvPr/>
        </p:nvGrpSpPr>
        <p:grpSpPr>
          <a:xfrm>
            <a:off x="2110413" y="1867325"/>
            <a:ext cx="6804512" cy="3025375"/>
            <a:chOff x="2110413" y="1867325"/>
            <a:chExt cx="6804512" cy="3025375"/>
          </a:xfrm>
        </p:grpSpPr>
        <p:sp>
          <p:nvSpPr>
            <p:cNvPr id="1101" name="Google Shape;1101;p59"/>
            <p:cNvSpPr/>
            <p:nvPr/>
          </p:nvSpPr>
          <p:spPr>
            <a:xfrm>
              <a:off x="2110413" y="1867325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2" name="Google Shape;1102;p59"/>
            <p:cNvSpPr/>
            <p:nvPr/>
          </p:nvSpPr>
          <p:spPr>
            <a:xfrm>
              <a:off x="3430550" y="2544150"/>
              <a:ext cx="49407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3" name="Google Shape;1103;p59"/>
            <p:cNvSpPr/>
            <p:nvPr/>
          </p:nvSpPr>
          <p:spPr>
            <a:xfrm>
              <a:off x="4160426" y="3218850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4" name="Google Shape;1104;p59"/>
            <p:cNvSpPr/>
            <p:nvPr/>
          </p:nvSpPr>
          <p:spPr>
            <a:xfrm>
              <a:off x="2345038" y="3898350"/>
              <a:ext cx="36402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105" name="Google Shape;1105;p59"/>
            <p:cNvSpPr/>
            <p:nvPr/>
          </p:nvSpPr>
          <p:spPr>
            <a:xfrm>
              <a:off x="7126325" y="4622700"/>
              <a:ext cx="17886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106" name="Google Shape;1106;p5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1107" name="Google Shape;1107;p5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1108" name="Google Shape;1108;p5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1109" name="Google Shape;1109;p59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6</a:t>
            </a:r>
            <a:endParaRPr/>
          </a:p>
        </p:txBody>
      </p:sp>
      <p:sp>
        <p:nvSpPr>
          <p:cNvPr id="1110" name="Google Shape;1110;p59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5</a:t>
            </a:r>
            <a:endParaRPr/>
          </a:p>
        </p:txBody>
      </p:sp>
      <p:sp>
        <p:nvSpPr>
          <p:cNvPr id="1111" name="Google Shape;1111;p59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4</a:t>
            </a:r>
            <a:endParaRPr/>
          </a:p>
        </p:txBody>
      </p:sp>
      <p:sp>
        <p:nvSpPr>
          <p:cNvPr id="1112" name="Google Shape;1112;p59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3</a:t>
            </a:r>
            <a:endParaRPr/>
          </a:p>
        </p:txBody>
      </p:sp>
      <p:sp>
        <p:nvSpPr>
          <p:cNvPr id="1113" name="Google Shape;1113;p59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2</a:t>
            </a:r>
            <a:endParaRPr/>
          </a:p>
        </p:txBody>
      </p:sp>
      <p:sp>
        <p:nvSpPr>
          <p:cNvPr id="1114" name="Google Shape;1114;p59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1</a:t>
            </a:r>
            <a:endParaRPr/>
          </a:p>
        </p:txBody>
      </p:sp>
      <p:sp>
        <p:nvSpPr>
          <p:cNvPr id="1115" name="Google Shape;1115;p59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n" sz="4000"/>
              <a:t>Gantt Chart</a:t>
            </a:r>
            <a:endParaRPr/>
          </a:p>
        </p:txBody>
      </p:sp>
      <p:sp>
        <p:nvSpPr>
          <p:cNvPr id="1116" name="Google Shape;1116;p59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Interview pilot customers and map onboarding steps</a:t>
            </a:r>
            <a:endParaRPr/>
          </a:p>
        </p:txBody>
      </p:sp>
      <p:sp>
        <p:nvSpPr>
          <p:cNvPr id="1117" name="Google Shape;1117;p59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Define gold-set questions and evaluation workflow</a:t>
            </a:r>
            <a:endParaRPr/>
          </a:p>
        </p:txBody>
      </p:sp>
      <p:sp>
        <p:nvSpPr>
          <p:cNvPr id="1118" name="Google Shape;1118;p59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Connect CRM and help-center data sources</a:t>
            </a:r>
            <a:endParaRPr/>
          </a:p>
        </p:txBody>
      </p:sp>
      <p:sp>
        <p:nvSpPr>
          <p:cNvPr id="1119" name="Google Shape;1119;p59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Prepare multilingual site pages and case study assets</a:t>
            </a:r>
            <a:endParaRPr/>
          </a:p>
        </p:txBody>
      </p:sp>
      <p:sp>
        <p:nvSpPr>
          <p:cNvPr id="1120" name="Google Shape;1120;p59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Train Sales and CS on the launch narrative</a:t>
            </a:r>
            <a:endParaRPr/>
          </a:p>
        </p:txBody>
      </p:sp>
      <p:sp>
        <p:nvSpPr>
          <p:cNvPr id="1121" name="Google Shape;1121;p5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6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27" name="Google Shape;1127;p6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0"/>
              <a:t>Appendix</a:t>
            </a:r>
            <a:endParaRPr/>
          </a:p>
        </p:txBody>
      </p:sp>
      <p:sp>
        <p:nvSpPr>
          <p:cNvPr id="1128" name="Google Shape;1128;p6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Reference facts for RAG checks: headquarters in Tallinn, founded in 2023, 46 employees, 19 enterprise customers, median implementation cost $6,200, and target NRR 118% by Q2 2027.</a:t>
            </a:r>
            <a:endParaRPr/>
          </a:p>
        </p:txBody>
      </p:sp>
      <p:sp>
        <p:nvSpPr>
          <p:cNvPr id="1129" name="Google Shape;1129;p60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Northstar Assist</a:t>
            </a:r>
            <a:endParaRPr/>
          </a:p>
        </p:txBody>
      </p:sp>
      <p:sp>
        <p:nvSpPr>
          <p:cNvPr id="1130" name="Google Shape;1130;p60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hello@northstarassist.ai</a:t>
            </a:r>
            <a:endParaRPr/>
          </a:p>
        </p:txBody>
      </p:sp>
      <p:cxnSp>
        <p:nvCxnSpPr>
          <p:cNvPr id="1131" name="Google Shape;1131;p60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ign that says first day of autumn with leaves around it (Provided by Tenor)" id="1132" name="Google Shape;113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063" y="708025"/>
            <a:ext cx="1609500" cy="16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ign that says thankful grateful blessed (Provided by Tenor)" id="1133" name="Google Shape;1133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438" y="747425"/>
            <a:ext cx="1609500" cy="16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39" name="Google Shape;1139;p61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8000"/>
              <a:t>Thank you!</a:t>
            </a:r>
            <a:endParaRPr/>
          </a:p>
        </p:txBody>
      </p:sp>
      <p:sp>
        <p:nvSpPr>
          <p:cNvPr id="1140" name="Google Shape;1140;p61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Questions to validate RAG can focus on team roles, objectives, personas, roadmap, pricing assumptions, growth metrics, and the timeline from Q3 2026 to Q3 2027.</a:t>
            </a:r>
            <a:endParaRPr/>
          </a:p>
        </p:txBody>
      </p:sp>
      <p:sp>
        <p:nvSpPr>
          <p:cNvPr id="1141" name="Google Shape;1141;p61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hello@northstarassist.ai</a:t>
            </a:r>
            <a:endParaRPr/>
          </a:p>
        </p:txBody>
      </p:sp>
      <p:sp>
        <p:nvSpPr>
          <p:cNvPr id="1142" name="Google Shape;1142;p61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Northstar Assist</a:t>
            </a:r>
            <a:endParaRPr/>
          </a:p>
        </p:txBody>
      </p:sp>
      <p:cxnSp>
        <p:nvCxnSpPr>
          <p:cNvPr id="1143" name="Google Shape;1143;p61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ign that says thankful grateful blessed (Provided by Tenor)" id="1144" name="Google Shape;114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513" y="675175"/>
            <a:ext cx="1609500" cy="16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appy wednesday greeting card with a yellow duck and a cup of coffee (Provided by Tenor)" id="1145" name="Google Shape;114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188" y="675175"/>
            <a:ext cx="1616234" cy="16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2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 from existing pilot accounts.</a:t>
            </a:r>
            <a:endParaRPr/>
          </a:p>
        </p:txBody>
      </p:sp>
      <p:sp>
        <p:nvSpPr>
          <p:cNvPr id="1151" name="Google Shape;1151;p62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Partner-sourced pipeline from agencies and consultants.</a:t>
            </a:r>
            <a:endParaRPr/>
          </a:p>
        </p:txBody>
      </p:sp>
      <p:sp>
        <p:nvSpPr>
          <p:cNvPr id="1152" name="Google Shape;1152;p62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Germany launch.</a:t>
            </a:r>
            <a:endParaRPr/>
          </a:p>
        </p:txBody>
      </p:sp>
      <p:sp>
        <p:nvSpPr>
          <p:cNvPr id="1153" name="Google Shape;1153;p62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Spain launch.</a:t>
            </a:r>
            <a:endParaRPr/>
          </a:p>
        </p:txBody>
      </p:sp>
      <p:sp>
        <p:nvSpPr>
          <p:cNvPr id="1154" name="Google Shape;1154;p62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quarterly upsell value per eligible account.</a:t>
            </a:r>
            <a:endParaRPr/>
          </a:p>
        </p:txBody>
      </p:sp>
      <p:sp>
        <p:nvSpPr>
          <p:cNvPr id="1155" name="Google Shape;1155;p62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annual savings from reduced manual onboarding effort.</a:t>
            </a:r>
            <a:endParaRPr/>
          </a:p>
        </p:txBody>
      </p:sp>
      <p:sp>
        <p:nvSpPr>
          <p:cNvPr id="1156" name="Google Shape;1156;p62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$1.9M</a:t>
            </a:r>
            <a:endParaRPr/>
          </a:p>
        </p:txBody>
      </p:sp>
      <p:sp>
        <p:nvSpPr>
          <p:cNvPr id="1157" name="Google Shape;1157;p62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$0.8M</a:t>
            </a:r>
            <a:endParaRPr/>
          </a:p>
        </p:txBody>
      </p:sp>
      <p:sp>
        <p:nvSpPr>
          <p:cNvPr id="1158" name="Google Shape;1158;p62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$1.1M</a:t>
            </a:r>
            <a:endParaRPr/>
          </a:p>
        </p:txBody>
      </p:sp>
      <p:sp>
        <p:nvSpPr>
          <p:cNvPr id="1159" name="Google Shape;1159;p62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$0.9M</a:t>
            </a:r>
            <a:endParaRPr/>
          </a:p>
        </p:txBody>
      </p:sp>
      <p:sp>
        <p:nvSpPr>
          <p:cNvPr id="1160" name="Google Shape;1160;p62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$24K</a:t>
            </a:r>
            <a:endParaRPr/>
          </a:p>
        </p:txBody>
      </p:sp>
      <p:sp>
        <p:nvSpPr>
          <p:cNvPr id="1161" name="Google Shape;1161;p62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$180K</a:t>
            </a:r>
            <a:endParaRPr/>
          </a:p>
        </p:txBody>
      </p:sp>
      <p:sp>
        <p:nvSpPr>
          <p:cNvPr id="1162" name="Google Shape;1162;p62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</a:t>
            </a:r>
            <a:endParaRPr/>
          </a:p>
        </p:txBody>
      </p:sp>
      <p:sp>
        <p:nvSpPr>
          <p:cNvPr id="1163" name="Google Shape;1163;p62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 pipeline</a:t>
            </a:r>
            <a:endParaRPr/>
          </a:p>
        </p:txBody>
      </p:sp>
      <p:sp>
        <p:nvSpPr>
          <p:cNvPr id="1164" name="Google Shape;1164;p62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pipeline</a:t>
            </a:r>
            <a:endParaRPr/>
          </a:p>
        </p:txBody>
      </p:sp>
      <p:sp>
        <p:nvSpPr>
          <p:cNvPr id="1165" name="Google Shape;1165;p62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Spain pipeline</a:t>
            </a:r>
            <a:endParaRPr/>
          </a:p>
        </p:txBody>
      </p:sp>
      <p:sp>
        <p:nvSpPr>
          <p:cNvPr id="1166" name="Google Shape;1166;p62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Avg upsell</a:t>
            </a:r>
            <a:endParaRPr/>
          </a:p>
        </p:txBody>
      </p:sp>
      <p:sp>
        <p:nvSpPr>
          <p:cNvPr id="1167" name="Google Shape;1167;p62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Annual labor savings</a:t>
            </a:r>
            <a:endParaRPr/>
          </a:p>
        </p:txBody>
      </p:sp>
      <p:sp>
        <p:nvSpPr>
          <p:cNvPr id="1168" name="Google Shape;1168;p62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Projected results</a:t>
            </a:r>
            <a:endParaRPr/>
          </a:p>
        </p:txBody>
      </p:sp>
      <p:sp>
        <p:nvSpPr>
          <p:cNvPr id="1169" name="Google Shape;1169;p6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METRICS</a:t>
            </a:r>
            <a:endParaRPr/>
          </a:p>
        </p:txBody>
      </p:sp>
      <p:cxnSp>
        <p:nvCxnSpPr>
          <p:cNvPr id="1170" name="Google Shape;1170;p62"/>
          <p:cNvCxnSpPr/>
          <p:nvPr/>
        </p:nvCxnSpPr>
        <p:spPr>
          <a:xfrm rot="10800000">
            <a:off x="122" y="14023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1" name="Google Shape;1171;p62"/>
          <p:cNvCxnSpPr/>
          <p:nvPr/>
        </p:nvCxnSpPr>
        <p:spPr>
          <a:xfrm rot="10800000">
            <a:off x="2700" y="19732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2" name="Google Shape;1172;p62"/>
          <p:cNvCxnSpPr/>
          <p:nvPr/>
        </p:nvCxnSpPr>
        <p:spPr>
          <a:xfrm rot="10800000">
            <a:off x="122" y="25515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3" name="Google Shape;1173;p62"/>
          <p:cNvCxnSpPr/>
          <p:nvPr/>
        </p:nvCxnSpPr>
        <p:spPr>
          <a:xfrm rot="10800000">
            <a:off x="2700" y="31224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p62"/>
          <p:cNvCxnSpPr/>
          <p:nvPr/>
        </p:nvCxnSpPr>
        <p:spPr>
          <a:xfrm rot="10800000">
            <a:off x="122" y="36933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62"/>
          <p:cNvCxnSpPr/>
          <p:nvPr/>
        </p:nvCxnSpPr>
        <p:spPr>
          <a:xfrm rot="10800000">
            <a:off x="2700" y="42642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63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1" name="Google Shape;1181;p63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2" name="Google Shape;1182;p63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183" name="Google Shape;1183;p63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84" name="Google Shape;1184;p63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p63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6" name="Google Shape;1186;p63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7" name="Google Shape;1187;p63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8" name="Google Shape;1188;p63"/>
          <p:cNvCxnSpPr/>
          <p:nvPr/>
        </p:nvCxnSpPr>
        <p:spPr>
          <a:xfrm rot="10800000">
            <a:off x="406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9" name="Google Shape;1189;p63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 timeline</a:t>
            </a:r>
            <a:endParaRPr/>
          </a:p>
        </p:txBody>
      </p:sp>
      <p:sp>
        <p:nvSpPr>
          <p:cNvPr id="1190" name="Google Shape;1190;p63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1191" name="Google Shape;1191;p63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1192" name="Google Shape;1192;p63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1193" name="Google Shape;1193;p63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Pilot discovery and baseline audit</a:t>
            </a:r>
            <a:endParaRPr/>
          </a:p>
        </p:txBody>
      </p:sp>
      <p:sp>
        <p:nvSpPr>
          <p:cNvPr id="1194" name="Google Shape;1194;p63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Executive scorecard adopted in QBRs</a:t>
            </a:r>
            <a:endParaRPr/>
          </a:p>
        </p:txBody>
      </p:sp>
      <p:sp>
        <p:nvSpPr>
          <p:cNvPr id="1195" name="Google Shape;1195;p63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and Spain launch package live</a:t>
            </a:r>
            <a:endParaRPr/>
          </a:p>
        </p:txBody>
      </p:sp>
      <p:sp>
        <p:nvSpPr>
          <p:cNvPr id="1196" name="Google Shape;1196;p63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Sales and CS enablement complete</a:t>
            </a:r>
            <a:endParaRPr/>
          </a:p>
        </p:txBody>
      </p:sp>
      <p:sp>
        <p:nvSpPr>
          <p:cNvPr id="1197" name="Google Shape;1197;p63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Guided Rollout beta and event tracking</a:t>
            </a:r>
            <a:endParaRPr/>
          </a:p>
        </p:txBody>
      </p:sp>
      <p:sp>
        <p:nvSpPr>
          <p:cNvPr id="1198" name="Google Shape;1198;p63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3</a:t>
            </a:r>
            <a:endParaRPr/>
          </a:p>
        </p:txBody>
      </p:sp>
      <p:sp>
        <p:nvSpPr>
          <p:cNvPr id="1199" name="Google Shape;1199;p63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1</a:t>
            </a:r>
            <a:endParaRPr/>
          </a:p>
        </p:txBody>
      </p:sp>
      <p:sp>
        <p:nvSpPr>
          <p:cNvPr id="1200" name="Google Shape;1200;p63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2</a:t>
            </a:r>
            <a:endParaRPr/>
          </a:p>
        </p:txBody>
      </p:sp>
      <p:sp>
        <p:nvSpPr>
          <p:cNvPr id="1201" name="Google Shape;1201;p63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4</a:t>
            </a:r>
            <a:endParaRPr/>
          </a:p>
        </p:txBody>
      </p:sp>
      <p:sp>
        <p:nvSpPr>
          <p:cNvPr id="1202" name="Google Shape;1202;p63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5</a:t>
            </a:r>
            <a:endParaRPr/>
          </a:p>
        </p:txBody>
      </p:sp>
      <p:sp>
        <p:nvSpPr>
          <p:cNvPr id="1203" name="Google Shape;1203;p63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 2027</a:t>
            </a:r>
            <a:endParaRPr/>
          </a:p>
        </p:txBody>
      </p:sp>
      <p:sp>
        <p:nvSpPr>
          <p:cNvPr id="1204" name="Google Shape;1204;p63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2026</a:t>
            </a:r>
            <a:endParaRPr/>
          </a:p>
        </p:txBody>
      </p:sp>
      <p:sp>
        <p:nvSpPr>
          <p:cNvPr id="1205" name="Google Shape;1205;p63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Q4 2026</a:t>
            </a:r>
            <a:endParaRPr/>
          </a:p>
        </p:txBody>
      </p:sp>
      <p:sp>
        <p:nvSpPr>
          <p:cNvPr id="1206" name="Google Shape;1206;p63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Q2 2027</a:t>
            </a:r>
            <a:endParaRPr/>
          </a:p>
        </p:txBody>
      </p:sp>
      <p:sp>
        <p:nvSpPr>
          <p:cNvPr id="1207" name="Google Shape;1207;p63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2027</a:t>
            </a:r>
            <a:endParaRPr/>
          </a:p>
        </p:txBody>
      </p:sp>
      <p:sp>
        <p:nvSpPr>
          <p:cNvPr id="1208" name="Google Shape;1208;p63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3" name="Google Shape;1213;p64"/>
          <p:cNvCxnSpPr/>
          <p:nvPr/>
        </p:nvCxnSpPr>
        <p:spPr>
          <a:xfrm rot="10800000">
            <a:off x="17816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14" name="Google Shape;1214;p64"/>
          <p:cNvCxnSpPr/>
          <p:nvPr/>
        </p:nvCxnSpPr>
        <p:spPr>
          <a:xfrm rot="10800000">
            <a:off x="-26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5" name="Google Shape;1215;p64"/>
          <p:cNvCxnSpPr/>
          <p:nvPr/>
        </p:nvCxnSpPr>
        <p:spPr>
          <a:xfrm rot="10800000">
            <a:off x="-26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6" name="Google Shape;1216;p64"/>
          <p:cNvCxnSpPr/>
          <p:nvPr/>
        </p:nvCxnSpPr>
        <p:spPr>
          <a:xfrm rot="10800000">
            <a:off x="-1994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p64"/>
          <p:cNvCxnSpPr/>
          <p:nvPr/>
        </p:nvCxnSpPr>
        <p:spPr>
          <a:xfrm rot="10800000">
            <a:off x="3008738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18" name="Google Shape;1218;p64"/>
          <p:cNvCxnSpPr/>
          <p:nvPr/>
        </p:nvCxnSpPr>
        <p:spPr>
          <a:xfrm rot="10800000">
            <a:off x="4235800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19" name="Google Shape;1219;p64"/>
          <p:cNvCxnSpPr/>
          <p:nvPr/>
        </p:nvCxnSpPr>
        <p:spPr>
          <a:xfrm rot="10800000">
            <a:off x="5462825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20" name="Google Shape;1220;p64"/>
          <p:cNvCxnSpPr/>
          <p:nvPr/>
        </p:nvCxnSpPr>
        <p:spPr>
          <a:xfrm rot="10800000">
            <a:off x="668992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21" name="Google Shape;1221;p64"/>
          <p:cNvCxnSpPr/>
          <p:nvPr/>
        </p:nvCxnSpPr>
        <p:spPr>
          <a:xfrm rot="10800000">
            <a:off x="79169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22" name="Google Shape;1222;p64"/>
          <p:cNvCxnSpPr/>
          <p:nvPr/>
        </p:nvCxnSpPr>
        <p:spPr>
          <a:xfrm rot="10800000">
            <a:off x="-162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3" name="Google Shape;1223;p64"/>
          <p:cNvCxnSpPr/>
          <p:nvPr/>
        </p:nvCxnSpPr>
        <p:spPr>
          <a:xfrm rot="10800000">
            <a:off x="-162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4" name="Google Shape;1224;p64"/>
          <p:cNvGrpSpPr/>
          <p:nvPr/>
        </p:nvGrpSpPr>
        <p:grpSpPr>
          <a:xfrm>
            <a:off x="2110413" y="1867325"/>
            <a:ext cx="6804512" cy="3025375"/>
            <a:chOff x="2110413" y="1867325"/>
            <a:chExt cx="6804512" cy="3025375"/>
          </a:xfrm>
        </p:grpSpPr>
        <p:sp>
          <p:nvSpPr>
            <p:cNvPr id="1225" name="Google Shape;1225;p64"/>
            <p:cNvSpPr/>
            <p:nvPr/>
          </p:nvSpPr>
          <p:spPr>
            <a:xfrm>
              <a:off x="2110413" y="1867325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226" name="Google Shape;1226;p64"/>
            <p:cNvSpPr/>
            <p:nvPr/>
          </p:nvSpPr>
          <p:spPr>
            <a:xfrm>
              <a:off x="3430550" y="2544150"/>
              <a:ext cx="49407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227" name="Google Shape;1227;p64"/>
            <p:cNvSpPr/>
            <p:nvPr/>
          </p:nvSpPr>
          <p:spPr>
            <a:xfrm>
              <a:off x="4160426" y="3218850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228" name="Google Shape;1228;p64"/>
            <p:cNvSpPr/>
            <p:nvPr/>
          </p:nvSpPr>
          <p:spPr>
            <a:xfrm>
              <a:off x="2345038" y="3898350"/>
              <a:ext cx="36402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229" name="Google Shape;1229;p64"/>
            <p:cNvSpPr/>
            <p:nvPr/>
          </p:nvSpPr>
          <p:spPr>
            <a:xfrm>
              <a:off x="7126325" y="4622700"/>
              <a:ext cx="17886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230" name="Google Shape;1230;p6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1231" name="Google Shape;1231;p6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1232" name="Google Shape;1232;p6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1233" name="Google Shape;1233;p64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6</a:t>
            </a:r>
            <a:endParaRPr/>
          </a:p>
        </p:txBody>
      </p:sp>
      <p:sp>
        <p:nvSpPr>
          <p:cNvPr id="1234" name="Google Shape;1234;p64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5</a:t>
            </a:r>
            <a:endParaRPr/>
          </a:p>
        </p:txBody>
      </p:sp>
      <p:sp>
        <p:nvSpPr>
          <p:cNvPr id="1235" name="Google Shape;1235;p64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4</a:t>
            </a:r>
            <a:endParaRPr/>
          </a:p>
        </p:txBody>
      </p:sp>
      <p:sp>
        <p:nvSpPr>
          <p:cNvPr id="1236" name="Google Shape;1236;p64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3</a:t>
            </a:r>
            <a:endParaRPr/>
          </a:p>
        </p:txBody>
      </p:sp>
      <p:sp>
        <p:nvSpPr>
          <p:cNvPr id="1237" name="Google Shape;1237;p64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2</a:t>
            </a:r>
            <a:endParaRPr/>
          </a:p>
        </p:txBody>
      </p:sp>
      <p:sp>
        <p:nvSpPr>
          <p:cNvPr id="1238" name="Google Shape;1238;p64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1</a:t>
            </a:r>
            <a:endParaRPr/>
          </a:p>
        </p:txBody>
      </p:sp>
      <p:sp>
        <p:nvSpPr>
          <p:cNvPr id="1239" name="Google Shape;1239;p64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n" sz="4000"/>
              <a:t>Gantt Chart</a:t>
            </a:r>
            <a:endParaRPr/>
          </a:p>
        </p:txBody>
      </p:sp>
      <p:sp>
        <p:nvSpPr>
          <p:cNvPr id="1240" name="Google Shape;1240;p64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Interview pilot customers and map onboarding steps</a:t>
            </a:r>
            <a:endParaRPr/>
          </a:p>
        </p:txBody>
      </p:sp>
      <p:sp>
        <p:nvSpPr>
          <p:cNvPr id="1241" name="Google Shape;1241;p64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Define gold-set questions and evaluation workflow</a:t>
            </a:r>
            <a:endParaRPr/>
          </a:p>
        </p:txBody>
      </p:sp>
      <p:sp>
        <p:nvSpPr>
          <p:cNvPr id="1242" name="Google Shape;1242;p64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Connect CRM and help-center data sources</a:t>
            </a:r>
            <a:endParaRPr/>
          </a:p>
        </p:txBody>
      </p:sp>
      <p:sp>
        <p:nvSpPr>
          <p:cNvPr id="1243" name="Google Shape;1243;p64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Prepare multilingual site pages and case study assets</a:t>
            </a:r>
            <a:endParaRPr/>
          </a:p>
        </p:txBody>
      </p:sp>
      <p:sp>
        <p:nvSpPr>
          <p:cNvPr id="1244" name="Google Shape;1244;p64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Train Sales and CS on the launch narrative</a:t>
            </a:r>
            <a:endParaRPr/>
          </a:p>
        </p:txBody>
      </p:sp>
      <p:sp>
        <p:nvSpPr>
          <p:cNvPr id="1245" name="Google Shape;1245;p64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65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51" name="Google Shape;1251;p65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0"/>
              <a:t>Appendix</a:t>
            </a:r>
            <a:endParaRPr/>
          </a:p>
        </p:txBody>
      </p:sp>
      <p:sp>
        <p:nvSpPr>
          <p:cNvPr id="1252" name="Google Shape;1252;p65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Reference facts for RAG checks: headquarters in Tallinn, founded in 2023, 46 employees, 19 enterprise customers, median implementation cost $6,200, and target NRR 118% by Q2 2027.</a:t>
            </a:r>
            <a:endParaRPr/>
          </a:p>
        </p:txBody>
      </p:sp>
      <p:sp>
        <p:nvSpPr>
          <p:cNvPr id="1253" name="Google Shape;1253;p65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Northstar Assist</a:t>
            </a:r>
            <a:endParaRPr/>
          </a:p>
        </p:txBody>
      </p:sp>
      <p:sp>
        <p:nvSpPr>
          <p:cNvPr id="1254" name="Google Shape;1254;p65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hello@northstarassist.ai</a:t>
            </a:r>
            <a:endParaRPr/>
          </a:p>
        </p:txBody>
      </p:sp>
      <p:cxnSp>
        <p:nvCxnSpPr>
          <p:cNvPr id="1255" name="Google Shape;1255;p65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ign that says first day of autumn with leaves around it (Provided by Tenor)" id="1256" name="Google Shape;125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063" y="708025"/>
            <a:ext cx="1609500" cy="16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ign that says thankful grateful blessed (Provided by Tenor)" id="1257" name="Google Shape;125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438" y="747425"/>
            <a:ext cx="1609500" cy="16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66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63" name="Google Shape;1263;p66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8000"/>
              <a:t>Thank you!</a:t>
            </a:r>
            <a:endParaRPr/>
          </a:p>
        </p:txBody>
      </p:sp>
      <p:sp>
        <p:nvSpPr>
          <p:cNvPr id="1264" name="Google Shape;1264;p66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Questions to validate RAG can focus on team roles, objectives, personas, roadmap, pricing assumptions, growth metrics, and the timeline from Q3 2026 to Q3 2027.</a:t>
            </a:r>
            <a:endParaRPr/>
          </a:p>
        </p:txBody>
      </p:sp>
      <p:sp>
        <p:nvSpPr>
          <p:cNvPr id="1265" name="Google Shape;1265;p66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hello@northstarassist.ai</a:t>
            </a:r>
            <a:endParaRPr/>
          </a:p>
        </p:txBody>
      </p:sp>
      <p:sp>
        <p:nvSpPr>
          <p:cNvPr id="1266" name="Google Shape;1266;p66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Northstar Assist</a:t>
            </a:r>
            <a:endParaRPr/>
          </a:p>
        </p:txBody>
      </p:sp>
      <p:cxnSp>
        <p:nvCxnSpPr>
          <p:cNvPr id="1267" name="Google Shape;1267;p66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ign that says thankful grateful blessed (Provided by Tenor)" id="1268" name="Google Shape;126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513" y="675175"/>
            <a:ext cx="1609500" cy="16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appy wednesday greeting card with a yellow duck and a cup of coffee (Provided by Tenor)" id="1269" name="Google Shape;126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188" y="675175"/>
            <a:ext cx="1616234" cy="16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67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 from existing pilot accounts.</a:t>
            </a:r>
            <a:endParaRPr/>
          </a:p>
        </p:txBody>
      </p:sp>
      <p:sp>
        <p:nvSpPr>
          <p:cNvPr id="1275" name="Google Shape;1275;p67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Partner-sourced pipeline from agencies and consultants.</a:t>
            </a:r>
            <a:endParaRPr/>
          </a:p>
        </p:txBody>
      </p:sp>
      <p:sp>
        <p:nvSpPr>
          <p:cNvPr id="1276" name="Google Shape;1276;p67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Germany launch.</a:t>
            </a:r>
            <a:endParaRPr/>
          </a:p>
        </p:txBody>
      </p:sp>
      <p:sp>
        <p:nvSpPr>
          <p:cNvPr id="1277" name="Google Shape;1277;p67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Pipeline expected from Spain launch.</a:t>
            </a:r>
            <a:endParaRPr/>
          </a:p>
        </p:txBody>
      </p:sp>
      <p:sp>
        <p:nvSpPr>
          <p:cNvPr id="1278" name="Google Shape;1278;p67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quarterly upsell value per eligible account.</a:t>
            </a:r>
            <a:endParaRPr/>
          </a:p>
        </p:txBody>
      </p:sp>
      <p:sp>
        <p:nvSpPr>
          <p:cNvPr id="1279" name="Google Shape;1279;p67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Average annual savings from reduced manual onboarding effort.</a:t>
            </a:r>
            <a:endParaRPr/>
          </a:p>
        </p:txBody>
      </p:sp>
      <p:sp>
        <p:nvSpPr>
          <p:cNvPr id="1280" name="Google Shape;1280;p67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$1.9M</a:t>
            </a:r>
            <a:endParaRPr/>
          </a:p>
        </p:txBody>
      </p:sp>
      <p:sp>
        <p:nvSpPr>
          <p:cNvPr id="1281" name="Google Shape;1281;p67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$0.8M</a:t>
            </a:r>
            <a:endParaRPr/>
          </a:p>
        </p:txBody>
      </p:sp>
      <p:sp>
        <p:nvSpPr>
          <p:cNvPr id="1282" name="Google Shape;1282;p67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$1.1M</a:t>
            </a:r>
            <a:endParaRPr/>
          </a:p>
        </p:txBody>
      </p:sp>
      <p:sp>
        <p:nvSpPr>
          <p:cNvPr id="1283" name="Google Shape;1283;p67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$0.9M</a:t>
            </a:r>
            <a:endParaRPr/>
          </a:p>
        </p:txBody>
      </p:sp>
      <p:sp>
        <p:nvSpPr>
          <p:cNvPr id="1284" name="Google Shape;1284;p67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$24K</a:t>
            </a:r>
            <a:endParaRPr/>
          </a:p>
        </p:txBody>
      </p:sp>
      <p:sp>
        <p:nvSpPr>
          <p:cNvPr id="1285" name="Google Shape;1285;p67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latin typeface="Hanken Grotesk Light"/>
                <a:ea typeface="Hanken Grotesk Light"/>
                <a:cs typeface="Hanken Grotesk Light"/>
                <a:sym typeface="Hanken Grotesk Light"/>
              </a:rPr>
              <a:t>$180K</a:t>
            </a:r>
            <a:endParaRPr/>
          </a:p>
        </p:txBody>
      </p:sp>
      <p:sp>
        <p:nvSpPr>
          <p:cNvPr id="1286" name="Google Shape;1286;p67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Expansion pipeline</a:t>
            </a:r>
            <a:endParaRPr/>
          </a:p>
        </p:txBody>
      </p:sp>
      <p:sp>
        <p:nvSpPr>
          <p:cNvPr id="1287" name="Google Shape;1287;p67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Partner pipeline</a:t>
            </a:r>
            <a:endParaRPr/>
          </a:p>
        </p:txBody>
      </p:sp>
      <p:sp>
        <p:nvSpPr>
          <p:cNvPr id="1288" name="Google Shape;1288;p67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pipeline</a:t>
            </a:r>
            <a:endParaRPr/>
          </a:p>
        </p:txBody>
      </p:sp>
      <p:sp>
        <p:nvSpPr>
          <p:cNvPr id="1289" name="Google Shape;1289;p67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Spain pipeline</a:t>
            </a:r>
            <a:endParaRPr/>
          </a:p>
        </p:txBody>
      </p:sp>
      <p:sp>
        <p:nvSpPr>
          <p:cNvPr id="1290" name="Google Shape;1290;p67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Avg upsell</a:t>
            </a:r>
            <a:endParaRPr/>
          </a:p>
        </p:txBody>
      </p:sp>
      <p:sp>
        <p:nvSpPr>
          <p:cNvPr id="1291" name="Google Shape;1291;p67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90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Annual labor savings</a:t>
            </a:r>
            <a:endParaRPr/>
          </a:p>
        </p:txBody>
      </p:sp>
      <p:sp>
        <p:nvSpPr>
          <p:cNvPr id="1292" name="Google Shape;1292;p6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Projected results</a:t>
            </a:r>
            <a:endParaRPr/>
          </a:p>
        </p:txBody>
      </p:sp>
      <p:sp>
        <p:nvSpPr>
          <p:cNvPr id="1293" name="Google Shape;1293;p6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/>
              <a:t>METRICS</a:t>
            </a:r>
            <a:endParaRPr/>
          </a:p>
        </p:txBody>
      </p:sp>
      <p:cxnSp>
        <p:nvCxnSpPr>
          <p:cNvPr id="1294" name="Google Shape;1294;p67"/>
          <p:cNvCxnSpPr/>
          <p:nvPr/>
        </p:nvCxnSpPr>
        <p:spPr>
          <a:xfrm rot="10800000">
            <a:off x="122" y="14023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67"/>
          <p:cNvCxnSpPr/>
          <p:nvPr/>
        </p:nvCxnSpPr>
        <p:spPr>
          <a:xfrm rot="10800000">
            <a:off x="2700" y="1973250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67"/>
          <p:cNvCxnSpPr/>
          <p:nvPr/>
        </p:nvCxnSpPr>
        <p:spPr>
          <a:xfrm rot="10800000">
            <a:off x="122" y="25515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7" name="Google Shape;1297;p67"/>
          <p:cNvCxnSpPr/>
          <p:nvPr/>
        </p:nvCxnSpPr>
        <p:spPr>
          <a:xfrm rot="10800000">
            <a:off x="2700" y="31224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8" name="Google Shape;1298;p67"/>
          <p:cNvCxnSpPr/>
          <p:nvPr/>
        </p:nvCxnSpPr>
        <p:spPr>
          <a:xfrm rot="10800000">
            <a:off x="122" y="36933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9" name="Google Shape;1299;p67"/>
          <p:cNvCxnSpPr/>
          <p:nvPr/>
        </p:nvCxnSpPr>
        <p:spPr>
          <a:xfrm rot="10800000">
            <a:off x="2700" y="4264275"/>
            <a:ext cx="91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8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5" name="Google Shape;1305;p68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6" name="Google Shape;1306;p68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07" name="Google Shape;1307;p68"/>
          <p:cNvSpPr/>
          <p:nvPr/>
        </p:nvSpPr>
        <p:spPr>
          <a:xfrm>
            <a:off x="52787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308" name="Google Shape;1308;p68"/>
          <p:cNvCxnSpPr/>
          <p:nvPr/>
        </p:nvCxnSpPr>
        <p:spPr>
          <a:xfrm rot="10800000">
            <a:off x="77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9" name="Google Shape;1309;p68"/>
          <p:cNvCxnSpPr/>
          <p:nvPr/>
        </p:nvCxnSpPr>
        <p:spPr>
          <a:xfrm rot="10800000">
            <a:off x="77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0" name="Google Shape;1310;p68"/>
          <p:cNvCxnSpPr/>
          <p:nvPr/>
        </p:nvCxnSpPr>
        <p:spPr>
          <a:xfrm rot="10800000">
            <a:off x="-2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1" name="Google Shape;1311;p68"/>
          <p:cNvCxnSpPr/>
          <p:nvPr/>
        </p:nvCxnSpPr>
        <p:spPr>
          <a:xfrm rot="10800000">
            <a:off x="-2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2" name="Google Shape;1312;p68"/>
          <p:cNvCxnSpPr/>
          <p:nvPr/>
        </p:nvCxnSpPr>
        <p:spPr>
          <a:xfrm rot="10800000">
            <a:off x="406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3" name="Google Shape;1313;p68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000"/>
              <a:t>Project timeline</a:t>
            </a:r>
            <a:endParaRPr/>
          </a:p>
        </p:txBody>
      </p:sp>
      <p:sp>
        <p:nvSpPr>
          <p:cNvPr id="1314" name="Google Shape;1314;p68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1315" name="Google Shape;1315;p68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1316" name="Google Shape;1316;p68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1317" name="Google Shape;1317;p68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Pilot discovery and baseline audit</a:t>
            </a:r>
            <a:endParaRPr/>
          </a:p>
        </p:txBody>
      </p:sp>
      <p:sp>
        <p:nvSpPr>
          <p:cNvPr id="1318" name="Google Shape;1318;p68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Executive scorecard adopted in QBRs</a:t>
            </a:r>
            <a:endParaRPr/>
          </a:p>
        </p:txBody>
      </p:sp>
      <p:sp>
        <p:nvSpPr>
          <p:cNvPr id="1319" name="Google Shape;1319;p68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Germany and Spain launch package live</a:t>
            </a:r>
            <a:endParaRPr/>
          </a:p>
        </p:txBody>
      </p:sp>
      <p:sp>
        <p:nvSpPr>
          <p:cNvPr id="1320" name="Google Shape;1320;p68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Sales and CS enablement complete</a:t>
            </a:r>
            <a:endParaRPr/>
          </a:p>
        </p:txBody>
      </p:sp>
      <p:sp>
        <p:nvSpPr>
          <p:cNvPr id="1321" name="Google Shape;1321;p68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91425" spcFirstLastPara="1" rIns="91425" wrap="square" tIns="72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Guided Rollout beta and event tracking</a:t>
            </a:r>
            <a:endParaRPr/>
          </a:p>
        </p:txBody>
      </p:sp>
      <p:sp>
        <p:nvSpPr>
          <p:cNvPr id="1322" name="Google Shape;1322;p68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3</a:t>
            </a:r>
            <a:endParaRPr/>
          </a:p>
        </p:txBody>
      </p:sp>
      <p:sp>
        <p:nvSpPr>
          <p:cNvPr id="1323" name="Google Shape;1323;p68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1</a:t>
            </a:r>
            <a:endParaRPr/>
          </a:p>
        </p:txBody>
      </p:sp>
      <p:sp>
        <p:nvSpPr>
          <p:cNvPr id="1324" name="Google Shape;1324;p68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2</a:t>
            </a:r>
            <a:endParaRPr/>
          </a:p>
        </p:txBody>
      </p:sp>
      <p:sp>
        <p:nvSpPr>
          <p:cNvPr id="1325" name="Google Shape;1325;p68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4</a:t>
            </a:r>
            <a:endParaRPr/>
          </a:p>
        </p:txBody>
      </p:sp>
      <p:sp>
        <p:nvSpPr>
          <p:cNvPr id="1326" name="Google Shape;1326;p68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360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>
                <a:latin typeface="Hanken Grotesk Light"/>
                <a:ea typeface="Hanken Grotesk Light"/>
                <a:cs typeface="Hanken Grotesk Light"/>
                <a:sym typeface="Hanken Grotesk Light"/>
              </a:rPr>
              <a:t>Milestone 5</a:t>
            </a:r>
            <a:endParaRPr/>
          </a:p>
        </p:txBody>
      </p:sp>
      <p:sp>
        <p:nvSpPr>
          <p:cNvPr id="1327" name="Google Shape;1327;p68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Q1 2027</a:t>
            </a:r>
            <a:endParaRPr/>
          </a:p>
        </p:txBody>
      </p:sp>
      <p:sp>
        <p:nvSpPr>
          <p:cNvPr id="1328" name="Google Shape;1328;p68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2026</a:t>
            </a:r>
            <a:endParaRPr/>
          </a:p>
        </p:txBody>
      </p:sp>
      <p:sp>
        <p:nvSpPr>
          <p:cNvPr id="1329" name="Google Shape;1329;p68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Q4 2026</a:t>
            </a:r>
            <a:endParaRPr/>
          </a:p>
        </p:txBody>
      </p:sp>
      <p:sp>
        <p:nvSpPr>
          <p:cNvPr id="1330" name="Google Shape;1330;p68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Q2 2027</a:t>
            </a:r>
            <a:endParaRPr/>
          </a:p>
        </p:txBody>
      </p:sp>
      <p:sp>
        <p:nvSpPr>
          <p:cNvPr id="1331" name="Google Shape;1331;p68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000" lIns="0" spcFirstLastPara="1" rIns="0" wrap="square" tIns="720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Q3 2027</a:t>
            </a:r>
            <a:endParaRPr/>
          </a:p>
        </p:txBody>
      </p:sp>
      <p:sp>
        <p:nvSpPr>
          <p:cNvPr id="1332" name="Google Shape;1332;p68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7" name="Google Shape;1337;p69"/>
          <p:cNvCxnSpPr/>
          <p:nvPr/>
        </p:nvCxnSpPr>
        <p:spPr>
          <a:xfrm rot="10800000">
            <a:off x="17816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38" name="Google Shape;1338;p69"/>
          <p:cNvCxnSpPr/>
          <p:nvPr/>
        </p:nvCxnSpPr>
        <p:spPr>
          <a:xfrm rot="10800000">
            <a:off x="-2664" y="30177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69"/>
          <p:cNvCxnSpPr/>
          <p:nvPr/>
        </p:nvCxnSpPr>
        <p:spPr>
          <a:xfrm rot="10800000">
            <a:off x="-2664" y="36948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69"/>
          <p:cNvCxnSpPr/>
          <p:nvPr/>
        </p:nvCxnSpPr>
        <p:spPr>
          <a:xfrm rot="10800000">
            <a:off x="-1994" y="43719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69"/>
          <p:cNvCxnSpPr/>
          <p:nvPr/>
        </p:nvCxnSpPr>
        <p:spPr>
          <a:xfrm rot="10800000">
            <a:off x="3008738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2" name="Google Shape;1342;p69"/>
          <p:cNvCxnSpPr/>
          <p:nvPr/>
        </p:nvCxnSpPr>
        <p:spPr>
          <a:xfrm rot="10800000">
            <a:off x="4235800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3" name="Google Shape;1343;p69"/>
          <p:cNvCxnSpPr/>
          <p:nvPr/>
        </p:nvCxnSpPr>
        <p:spPr>
          <a:xfrm rot="10800000">
            <a:off x="5462825" y="1663775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4" name="Google Shape;1344;p69"/>
          <p:cNvCxnSpPr/>
          <p:nvPr/>
        </p:nvCxnSpPr>
        <p:spPr>
          <a:xfrm rot="10800000">
            <a:off x="668992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5" name="Google Shape;1345;p69"/>
          <p:cNvCxnSpPr/>
          <p:nvPr/>
        </p:nvCxnSpPr>
        <p:spPr>
          <a:xfrm rot="10800000">
            <a:off x="7916975" y="1663400"/>
            <a:ext cx="0" cy="348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46" name="Google Shape;1346;p69"/>
          <p:cNvCxnSpPr/>
          <p:nvPr/>
        </p:nvCxnSpPr>
        <p:spPr>
          <a:xfrm rot="10800000">
            <a:off x="-1625" y="1663775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7" name="Google Shape;1347;p69"/>
          <p:cNvCxnSpPr/>
          <p:nvPr/>
        </p:nvCxnSpPr>
        <p:spPr>
          <a:xfrm rot="10800000">
            <a:off x="-1625" y="2340600"/>
            <a:ext cx="914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48" name="Google Shape;1348;p69"/>
          <p:cNvGrpSpPr/>
          <p:nvPr/>
        </p:nvGrpSpPr>
        <p:grpSpPr>
          <a:xfrm>
            <a:off x="2110413" y="1867325"/>
            <a:ext cx="6804512" cy="3025375"/>
            <a:chOff x="2110413" y="1867325"/>
            <a:chExt cx="6804512" cy="3025375"/>
          </a:xfrm>
        </p:grpSpPr>
        <p:sp>
          <p:nvSpPr>
            <p:cNvPr id="1349" name="Google Shape;1349;p69"/>
            <p:cNvSpPr/>
            <p:nvPr/>
          </p:nvSpPr>
          <p:spPr>
            <a:xfrm>
              <a:off x="2110413" y="1867325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50" name="Google Shape;1350;p69"/>
            <p:cNvSpPr/>
            <p:nvPr/>
          </p:nvSpPr>
          <p:spPr>
            <a:xfrm>
              <a:off x="3430550" y="2544150"/>
              <a:ext cx="49407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51" name="Google Shape;1351;p69"/>
            <p:cNvSpPr/>
            <p:nvPr/>
          </p:nvSpPr>
          <p:spPr>
            <a:xfrm>
              <a:off x="4160426" y="3218850"/>
              <a:ext cx="30144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52" name="Google Shape;1352;p69"/>
            <p:cNvSpPr/>
            <p:nvPr/>
          </p:nvSpPr>
          <p:spPr>
            <a:xfrm>
              <a:off x="2345038" y="3898350"/>
              <a:ext cx="36402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353" name="Google Shape;1353;p69"/>
            <p:cNvSpPr/>
            <p:nvPr/>
          </p:nvSpPr>
          <p:spPr>
            <a:xfrm>
              <a:off x="7126325" y="4622700"/>
              <a:ext cx="1788600" cy="270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1354" name="Google Shape;1354;p69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Team</a:t>
            </a:r>
            <a:endParaRPr/>
          </a:p>
        </p:txBody>
      </p:sp>
      <p:sp>
        <p:nvSpPr>
          <p:cNvPr id="1355" name="Google Shape;1355;p69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Landscape</a:t>
            </a:r>
            <a:endParaRPr/>
          </a:p>
        </p:txBody>
      </p:sp>
      <p:sp>
        <p:nvSpPr>
          <p:cNvPr id="1356" name="Google Shape;1356;p69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Opportunities</a:t>
            </a:r>
            <a:endParaRPr/>
          </a:p>
        </p:txBody>
      </p:sp>
      <p:sp>
        <p:nvSpPr>
          <p:cNvPr id="1357" name="Google Shape;1357;p69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6</a:t>
            </a:r>
            <a:endParaRPr/>
          </a:p>
        </p:txBody>
      </p:sp>
      <p:sp>
        <p:nvSpPr>
          <p:cNvPr id="1358" name="Google Shape;1358;p69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5</a:t>
            </a:r>
            <a:endParaRPr/>
          </a:p>
        </p:txBody>
      </p:sp>
      <p:sp>
        <p:nvSpPr>
          <p:cNvPr id="1359" name="Google Shape;1359;p69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4</a:t>
            </a:r>
            <a:endParaRPr/>
          </a:p>
        </p:txBody>
      </p:sp>
      <p:sp>
        <p:nvSpPr>
          <p:cNvPr id="1360" name="Google Shape;1360;p69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3</a:t>
            </a:r>
            <a:endParaRPr/>
          </a:p>
        </p:txBody>
      </p:sp>
      <p:sp>
        <p:nvSpPr>
          <p:cNvPr id="1361" name="Google Shape;1361;p69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2</a:t>
            </a:r>
            <a:endParaRPr/>
          </a:p>
        </p:txBody>
      </p:sp>
      <p:sp>
        <p:nvSpPr>
          <p:cNvPr id="1362" name="Google Shape;1362;p69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00" lIns="9000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Week 1</a:t>
            </a:r>
            <a:endParaRPr/>
          </a:p>
        </p:txBody>
      </p:sp>
      <p:sp>
        <p:nvSpPr>
          <p:cNvPr id="1363" name="Google Shape;1363;p69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n" sz="4000"/>
              <a:t>Gantt Chart</a:t>
            </a:r>
            <a:endParaRPr/>
          </a:p>
        </p:txBody>
      </p:sp>
      <p:sp>
        <p:nvSpPr>
          <p:cNvPr id="1364" name="Google Shape;1364;p69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Interview pilot customers and map onboarding steps</a:t>
            </a:r>
            <a:endParaRPr/>
          </a:p>
        </p:txBody>
      </p:sp>
      <p:sp>
        <p:nvSpPr>
          <p:cNvPr id="1365" name="Google Shape;1365;p69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Define gold-set questions and evaluation workflow</a:t>
            </a:r>
            <a:endParaRPr/>
          </a:p>
        </p:txBody>
      </p:sp>
      <p:sp>
        <p:nvSpPr>
          <p:cNvPr id="1366" name="Google Shape;1366;p69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7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Connect CRM and help-center data sources</a:t>
            </a:r>
            <a:endParaRPr/>
          </a:p>
        </p:txBody>
      </p:sp>
      <p:sp>
        <p:nvSpPr>
          <p:cNvPr id="1367" name="Google Shape;1367;p69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Prepare multilingual site pages and case study assets</a:t>
            </a:r>
            <a:endParaRPr/>
          </a:p>
        </p:txBody>
      </p:sp>
      <p:sp>
        <p:nvSpPr>
          <p:cNvPr id="1368" name="Google Shape;1368;p69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0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Train Sales and CS on the launch narrative</a:t>
            </a:r>
            <a:endParaRPr/>
          </a:p>
        </p:txBody>
      </p:sp>
      <p:sp>
        <p:nvSpPr>
          <p:cNvPr id="1369" name="Google Shape;1369;p69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>
                <a:latin typeface="Hanken Grotesk"/>
                <a:ea typeface="Hanken Grotesk"/>
                <a:cs typeface="Hanken Grotesk"/>
                <a:sym typeface="Hanken Grotesk"/>
              </a:rPr>
              <a:t>Timeline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70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75" name="Google Shape;1375;p70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0"/>
              <a:t>Appendix</a:t>
            </a:r>
            <a:endParaRPr/>
          </a:p>
        </p:txBody>
      </p:sp>
      <p:sp>
        <p:nvSpPr>
          <p:cNvPr id="1376" name="Google Shape;1376;p70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Reference facts for RAG checks: headquarters in Tallinn, founded in 2023, 46 employees, 19 enterprise customers, median implementation cost $6,200, and target NRR 118% by Q2 2027.</a:t>
            </a:r>
            <a:endParaRPr/>
          </a:p>
        </p:txBody>
      </p:sp>
      <p:sp>
        <p:nvSpPr>
          <p:cNvPr id="1377" name="Google Shape;1377;p70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Northstar Assist</a:t>
            </a:r>
            <a:endParaRPr/>
          </a:p>
        </p:txBody>
      </p:sp>
      <p:sp>
        <p:nvSpPr>
          <p:cNvPr id="1378" name="Google Shape;1378;p70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hello@northstarassist.ai</a:t>
            </a:r>
            <a:endParaRPr/>
          </a:p>
        </p:txBody>
      </p:sp>
      <p:cxnSp>
        <p:nvCxnSpPr>
          <p:cNvPr id="1379" name="Google Shape;1379;p70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ign that says first day of autumn with leaves around it (Provided by Tenor)" id="1380" name="Google Shape;138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063" y="708025"/>
            <a:ext cx="1609500" cy="16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ign that says thankful grateful blessed (Provided by Tenor)" id="1381" name="Google Shape;138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6438" y="747425"/>
            <a:ext cx="1609500" cy="16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71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387" name="Google Shape;1387;p71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8000"/>
              <a:t>Thank you!</a:t>
            </a:r>
            <a:endParaRPr/>
          </a:p>
        </p:txBody>
      </p:sp>
      <p:sp>
        <p:nvSpPr>
          <p:cNvPr id="1388" name="Google Shape;1388;p71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lang="en"/>
              <a:t>Questions to validate RAG can focus on team roles, objectives, personas, roadmap, pricing assumptions, growth metrics, and the timeline from Q3 2026 to Q3 2027.</a:t>
            </a:r>
            <a:endParaRPr/>
          </a:p>
        </p:txBody>
      </p:sp>
      <p:sp>
        <p:nvSpPr>
          <p:cNvPr id="1389" name="Google Shape;1389;p71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0"/>
              <a:t>hello@northstarassist.ai</a:t>
            </a:r>
            <a:endParaRPr/>
          </a:p>
        </p:txBody>
      </p:sp>
      <p:sp>
        <p:nvSpPr>
          <p:cNvPr id="1390" name="Google Shape;1390;p71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Northstar Assist</a:t>
            </a:r>
            <a:endParaRPr/>
          </a:p>
        </p:txBody>
      </p:sp>
      <p:cxnSp>
        <p:nvCxnSpPr>
          <p:cNvPr id="1391" name="Google Shape;1391;p71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sign that says thankful grateful blessed (Provided by Tenor)" id="1392" name="Google Shape;139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7513" y="675175"/>
            <a:ext cx="1609500" cy="160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happy wednesday greeting card with a yellow duck and a cup of coffee (Provided by Tenor)" id="1393" name="Google Shape;139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9188" y="675175"/>
            <a:ext cx="1616234" cy="160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