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Hanken Grotesk Medium"/>
      <p:regular r:id="rId11"/>
      <p:bold r:id="rId12"/>
      <p:italic r:id="rId13"/>
      <p:boldItalic r:id="rId14"/>
    </p:embeddedFont>
    <p:embeddedFont>
      <p:font typeface="Neuton Light"/>
      <p:regular r:id="rId15"/>
      <p:bold r:id="rId16"/>
      <p:boldItalic r:id="rId17"/>
    </p:embeddedFont>
    <p:embeddedFont>
      <p:font typeface="Hanken Grotesk"/>
      <p:regular r:id="rId18"/>
      <p:bold r:id="rId19"/>
      <p:italic r:id="rId20"/>
      <p:boldItalic r:id="rId21"/>
    </p:embeddedFont>
    <p:embeddedFont>
      <p:font typeface="Hanken Grotesk SemiBold"/>
      <p:regular r:id="rId22"/>
      <p:bold r:id="rId23"/>
      <p:italic r:id="rId24"/>
      <p:boldItalic r:id="rId25"/>
    </p:embeddedFont>
    <p:embeddedFont>
      <p:font typeface="Neuton"/>
      <p:regular r:id="rId26"/>
      <p:bold r:id="rId27"/>
      <p:italic r:id="rId28"/>
    </p:embeddedFont>
    <p:embeddedFont>
      <p:font typeface="Hanken Grotesk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italic.fntdata"/><Relationship Id="rId22" Type="http://schemas.openxmlformats.org/officeDocument/2006/relationships/font" Target="fonts/HankenGroteskSemiBold-regular.fntdata"/><Relationship Id="rId21" Type="http://schemas.openxmlformats.org/officeDocument/2006/relationships/font" Target="fonts/HankenGrotesk-boldItalic.fntdata"/><Relationship Id="rId24" Type="http://schemas.openxmlformats.org/officeDocument/2006/relationships/font" Target="fonts/HankenGroteskSemiBold-italic.fntdata"/><Relationship Id="rId23" Type="http://schemas.openxmlformats.org/officeDocument/2006/relationships/font" Target="fonts/HankenGrotesk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euton-regular.fntdata"/><Relationship Id="rId25" Type="http://schemas.openxmlformats.org/officeDocument/2006/relationships/font" Target="fonts/HankenGroteskSemiBold-boldItalic.fntdata"/><Relationship Id="rId28" Type="http://schemas.openxmlformats.org/officeDocument/2006/relationships/font" Target="fonts/Neuton-italic.fntdata"/><Relationship Id="rId27" Type="http://schemas.openxmlformats.org/officeDocument/2006/relationships/font" Target="fonts/Neuto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ankenGroteskLight-italic.fntdata"/><Relationship Id="rId30" Type="http://schemas.openxmlformats.org/officeDocument/2006/relationships/font" Target="fonts/HankenGroteskLight-bold.fntdata"/><Relationship Id="rId11" Type="http://schemas.openxmlformats.org/officeDocument/2006/relationships/font" Target="fonts/HankenGroteskMedium-regular.fntdata"/><Relationship Id="rId10" Type="http://schemas.openxmlformats.org/officeDocument/2006/relationships/slide" Target="slides/slide5.xml"/><Relationship Id="rId32" Type="http://schemas.openxmlformats.org/officeDocument/2006/relationships/font" Target="fonts/HankenGroteskLight-boldItalic.fntdata"/><Relationship Id="rId13" Type="http://schemas.openxmlformats.org/officeDocument/2006/relationships/font" Target="fonts/HankenGroteskMedium-italic.fntdata"/><Relationship Id="rId12" Type="http://schemas.openxmlformats.org/officeDocument/2006/relationships/font" Target="fonts/HankenGroteskMedium-bold.fntdata"/><Relationship Id="rId15" Type="http://schemas.openxmlformats.org/officeDocument/2006/relationships/font" Target="fonts/NeutonLight-regular.fntdata"/><Relationship Id="rId14" Type="http://schemas.openxmlformats.org/officeDocument/2006/relationships/font" Target="fonts/HankenGroteskMedium-boldItalic.fntdata"/><Relationship Id="rId17" Type="http://schemas.openxmlformats.org/officeDocument/2006/relationships/font" Target="fonts/NeutonLight-boldItalic.fntdata"/><Relationship Id="rId16" Type="http://schemas.openxmlformats.org/officeDocument/2006/relationships/font" Target="fonts/NeutonLight-bold.fntdata"/><Relationship Id="rId19" Type="http://schemas.openxmlformats.org/officeDocument/2006/relationships/font" Target="fonts/HankenGrotesk-bold.fntdata"/><Relationship Id="rId18" Type="http://schemas.openxmlformats.org/officeDocument/2006/relationships/font" Target="fonts/HankenGrotes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158458278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d158458278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d158458278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3d158458278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d158458278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g3d158458278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252000" spcFirstLastPara="1" rIns="252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7" name="Google Shape;337;p16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8" name="Google Shape;338;p16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9" name="Google Shape;339;p16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0" name="Google Shape;340;p16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1" name="Google Shape;341;p16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9" name="Google Shape;349;p17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0" name="Google Shape;350;p17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1" name="Google Shape;351;p17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9" name="Google Shape;359;p17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0" name="Google Shape;360;p17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1" name="Google Shape;361;p17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2" name="Google Shape;362;p17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3" name="Google Shape;363;p17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4" name="Google Shape;364;p17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5" name="Google Shape;365;p17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6" name="Google Shape;366;p17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17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8" name="Google Shape;368;p17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69" name="Google Shape;369;p17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0" name="Google Shape;370;p17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1" name="Google Shape;371;p17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2" name="Google Shape;372;p17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3" name="Google Shape;373;p17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74" name="Google Shape;374;p17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7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7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7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7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82" name="Google Shape;382;p18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3" name="Google Shape;383;p18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4" name="Google Shape;384;p18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5" name="Google Shape;385;p18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6" name="Google Shape;386;p18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7" name="Google Shape;387;p18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8" name="Google Shape;388;p18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9" name="Google Shape;389;p18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0" name="Google Shape;390;p18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1" name="Google Shape;391;p18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2" name="Google Shape;392;p18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18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8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5" name="Google Shape;395;p18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6" name="Google Shape;396;p18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7" name="Google Shape;397;p18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8" name="Google Shape;398;p18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9" name="Google Shape;399;p18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0" name="Google Shape;400;p18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1" name="Google Shape;401;p18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2" name="Google Shape;402;p18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3" name="Google Shape;403;p18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6" name="Google Shape;406;p19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19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19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19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1" name="Google Shape;411;p19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19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3" name="Google Shape;41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14" name="Google Shape;414;p19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15" name="Google Shape;415;p19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6" name="Google Shape;416;p19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7" name="Google Shape;417;p19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8" name="Google Shape;418;p19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9" name="Google Shape;419;p19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0" name="Google Shape;420;p19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1" name="Google Shape;421;p19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2" name="Google Shape;422;p19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5" name="Google Shape;42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6" name="Google Shape;426;p20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20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28" name="Google Shape;428;p20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20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3" name="Google Shape;433;p20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4" name="Google Shape;434;p20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7" name="Google Shape;437;p2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8" name="Google Shape;438;p21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9" name="Google Shape;439;p21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21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1" name="Google Shape;441;p21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2" name="Google Shape;442;p21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3" name="Google Shape;443;p21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4" name="Google Shape;444;p21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6" name="Google Shape;446;p21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7" name="Google Shape;447;p21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8" name="Google Shape;448;p21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9" name="Google Shape;449;p21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0" name="Google Shape;450;p21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1" name="Google Shape;451;p21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2" name="Google Shape;452;p21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3" name="Google Shape;453;p21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4" name="Google Shape;454;p21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21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8" name="Google Shape;458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62" name="Google Shape;462;p22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9" name="Google Shape;469;p22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0" name="Google Shape;470;p22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1" name="Google Shape;471;p22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2" name="Google Shape;472;p22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3" name="Google Shape;473;p22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4" name="Google Shape;474;p22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5" name="Google Shape;475;p22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6" name="Google Shape;476;p22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22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2" name="Google Shape;482;p2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3" name="Google Shape;483;p2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84" name="Google Shape;484;p23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85" name="Google Shape;485;p23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87" name="Google Shape;487;p2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8" name="Google Shape;488;p2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3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5" name="Google Shape;495;p23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6" name="Google Shape;496;p23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7" name="Google Shape;497;p23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8" name="Google Shape;498;p23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9" name="Google Shape;499;p23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0" name="Google Shape;500;p23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3" name="Google Shape;503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04" name="Google Shape;504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05" name="Google Shape;505;p2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24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9" name="Google Shape;509;p2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0" name="Google Shape;510;p2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8000"/>
              <a:t>Strategic Growth Plan</a:t>
            </a:r>
            <a:endParaRPr/>
          </a:p>
        </p:txBody>
      </p:sp>
      <p:sp>
        <p:nvSpPr>
          <p:cNvPr id="621" name="Google Shape;621;p47"/>
          <p:cNvSpPr txBox="1"/>
          <p:nvPr>
            <p:ph idx="1" type="body"/>
          </p:nvPr>
        </p:nvSpPr>
        <p:spPr>
          <a:xfrm>
            <a:off x="974788" y="3870725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/>
              <a:t>Internal strategy deck for pilot stakeholders.</a:t>
            </a:r>
            <a:endParaRPr/>
          </a:p>
          <a:p>
            <a:pPr indent="-2873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/>
              <a:t>All data in this presentation is fictional and prepared for product demo, upload validation, and RAG question-answer testing.</a:t>
            </a:r>
            <a:endParaRPr/>
          </a:p>
        </p:txBody>
      </p:sp>
      <p:sp>
        <p:nvSpPr>
          <p:cNvPr id="622" name="Google Shape;622;p47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Northstar Assist</a:t>
            </a:r>
            <a:endParaRPr/>
          </a:p>
        </p:txBody>
      </p:sp>
      <p:sp>
        <p:nvSpPr>
          <p:cNvPr id="623" name="Google Shape;623;p47"/>
          <p:cNvSpPr txBox="1"/>
          <p:nvPr>
            <p:ph idx="3" type="subTitle"/>
          </p:nvPr>
        </p:nvSpPr>
        <p:spPr>
          <a:xfrm>
            <a:off x="5539488" y="3934625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2026</a:t>
            </a:r>
            <a:endParaRPr/>
          </a:p>
        </p:txBody>
      </p:sp>
      <p:sp>
        <p:nvSpPr>
          <p:cNvPr id="624" name="Google Shape;624;p47"/>
          <p:cNvSpPr txBox="1"/>
          <p:nvPr>
            <p:ph idx="4" type="subTitle"/>
          </p:nvPr>
        </p:nvSpPr>
        <p:spPr>
          <a:xfrm>
            <a:off x="6460325" y="3934625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Q3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8"/>
          <p:cNvSpPr/>
          <p:nvPr/>
        </p:nvSpPr>
        <p:spPr>
          <a:xfrm>
            <a:off x="2284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20060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37829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2" name="Google Shape;632;p48"/>
          <p:cNvSpPr/>
          <p:nvPr/>
        </p:nvSpPr>
        <p:spPr>
          <a:xfrm>
            <a:off x="55605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733802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4" name="Google Shape;634;p48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5" name="Google Shape;635;p48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6" name="Google Shape;636;p48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7" name="Google Shape;637;p48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8" name="Google Shape;638;p48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descr="A woman stands in her office while clutching her phone. " id="639" name="Google Shape;639;p48"/>
          <p:cNvPicPr preferRelativeResize="0"/>
          <p:nvPr/>
        </p:nvPicPr>
        <p:blipFill rotWithShape="1">
          <a:blip r:embed="rId3">
            <a:alphaModFix/>
          </a:blip>
          <a:srcRect b="67287" l="29425" r="29425" t="11182"/>
          <a:stretch/>
        </p:blipFill>
        <p:spPr>
          <a:xfrm>
            <a:off x="5559900" y="3718775"/>
            <a:ext cx="1578900" cy="1242000"/>
          </a:xfrm>
          <a:prstGeom prst="roundRect">
            <a:avLst>
              <a:gd fmla="val 10915" name="adj"/>
            </a:avLst>
          </a:prstGeom>
          <a:noFill/>
          <a:ln>
            <a:noFill/>
          </a:ln>
        </p:spPr>
      </p:pic>
      <p:pic>
        <p:nvPicPr>
          <p:cNvPr descr="A man sits in an office with a computer on his lap. " id="640" name="Google Shape;640;p48"/>
          <p:cNvPicPr preferRelativeResize="0"/>
          <p:nvPr/>
        </p:nvPicPr>
        <p:blipFill rotWithShape="1">
          <a:blip r:embed="rId4">
            <a:alphaModFix/>
          </a:blip>
          <a:srcRect b="50688" l="50352" r="12876" t="30070"/>
          <a:stretch/>
        </p:blipFill>
        <p:spPr>
          <a:xfrm>
            <a:off x="7334275" y="3718775"/>
            <a:ext cx="1578900" cy="1242000"/>
          </a:xfrm>
          <a:prstGeom prst="roundRect">
            <a:avLst>
              <a:gd fmla="val 11754" name="adj"/>
            </a:avLst>
          </a:prstGeom>
          <a:noFill/>
          <a:ln>
            <a:noFill/>
          </a:ln>
        </p:spPr>
      </p:pic>
      <p:pic>
        <p:nvPicPr>
          <p:cNvPr descr="A man stands while looking at the camera and holding a coffee mug. " id="641" name="Google Shape;641;p48"/>
          <p:cNvPicPr preferRelativeResize="0"/>
          <p:nvPr/>
        </p:nvPicPr>
        <p:blipFill rotWithShape="1">
          <a:blip r:embed="rId4">
            <a:alphaModFix/>
          </a:blip>
          <a:srcRect b="76951" l="6762" r="56467" t="3807"/>
          <a:stretch/>
        </p:blipFill>
        <p:spPr>
          <a:xfrm>
            <a:off x="3784275" y="3718650"/>
            <a:ext cx="1578900" cy="1242000"/>
          </a:xfrm>
          <a:prstGeom prst="roundRect">
            <a:avLst>
              <a:gd fmla="val 10254" name="adj"/>
            </a:avLst>
          </a:prstGeom>
          <a:noFill/>
          <a:ln>
            <a:noFill/>
          </a:ln>
        </p:spPr>
      </p:pic>
      <p:pic>
        <p:nvPicPr>
          <p:cNvPr descr="A businesswoman looks at the camera while standing in an office.  " id="642" name="Google Shape;642;p48"/>
          <p:cNvPicPr preferRelativeResize="0"/>
          <p:nvPr/>
        </p:nvPicPr>
        <p:blipFill rotWithShape="1">
          <a:blip r:embed="rId5">
            <a:alphaModFix/>
          </a:blip>
          <a:srcRect b="60020" l="37387" r="42714" t="27400"/>
          <a:stretch/>
        </p:blipFill>
        <p:spPr>
          <a:xfrm>
            <a:off x="227300" y="3718650"/>
            <a:ext cx="1580400" cy="1247400"/>
          </a:xfrm>
          <a:prstGeom prst="roundRect">
            <a:avLst>
              <a:gd fmla="val 10438" name="adj"/>
            </a:avLst>
          </a:prstGeom>
          <a:noFill/>
          <a:ln>
            <a:noFill/>
          </a:ln>
        </p:spPr>
      </p:pic>
      <p:pic>
        <p:nvPicPr>
          <p:cNvPr descr="A woman smiles and stands in front of a shelf with textiles and rugs. " id="643" name="Google Shape;643;p48"/>
          <p:cNvPicPr preferRelativeResize="0"/>
          <p:nvPr/>
        </p:nvPicPr>
        <p:blipFill rotWithShape="1">
          <a:blip r:embed="rId6">
            <a:alphaModFix/>
          </a:blip>
          <a:srcRect b="55985" l="20001" r="26889" t="15981"/>
          <a:stretch/>
        </p:blipFill>
        <p:spPr>
          <a:xfrm>
            <a:off x="2005412" y="3718650"/>
            <a:ext cx="1580400" cy="1247400"/>
          </a:xfrm>
          <a:prstGeom prst="roundRect">
            <a:avLst>
              <a:gd fmla="val 10228" name="adj"/>
            </a:avLst>
          </a:prstGeom>
          <a:noFill/>
          <a:ln>
            <a:noFill/>
          </a:ln>
        </p:spPr>
      </p:pic>
      <p:sp>
        <p:nvSpPr>
          <p:cNvPr id="644" name="Google Shape;644;p48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645" name="Google Shape;645;p48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646" name="Google Shape;646;p48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647" name="Google Shape;647;p48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648" name="Google Shape;648;p48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649" name="Google Shape;649;p48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Ava Romero</a:t>
            </a:r>
            <a:endParaRPr/>
          </a:p>
        </p:txBody>
      </p:sp>
      <p:sp>
        <p:nvSpPr>
          <p:cNvPr id="650" name="Google Shape;650;p4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PERSONAS</a:t>
            </a:r>
            <a:endParaRPr/>
          </a:p>
        </p:txBody>
      </p:sp>
      <p:sp>
        <p:nvSpPr>
          <p:cNvPr id="651" name="Google Shape;651;p48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2</a:t>
            </a:r>
            <a:endParaRPr/>
          </a:p>
        </p:txBody>
      </p:sp>
      <p:sp>
        <p:nvSpPr>
          <p:cNvPr id="652" name="Google Shape;652;p48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Jonas Weber</a:t>
            </a:r>
            <a:endParaRPr/>
          </a:p>
        </p:txBody>
      </p:sp>
      <p:sp>
        <p:nvSpPr>
          <p:cNvPr id="653" name="Google Shape;653;p48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Elena Petrov</a:t>
            </a:r>
            <a:endParaRPr/>
          </a:p>
        </p:txBody>
      </p:sp>
      <p:sp>
        <p:nvSpPr>
          <p:cNvPr id="654" name="Google Shape;654;p48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3</a:t>
            </a:r>
            <a:endParaRPr/>
          </a:p>
        </p:txBody>
      </p:sp>
      <p:sp>
        <p:nvSpPr>
          <p:cNvPr id="655" name="Google Shape;655;p48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Victor Okafor</a:t>
            </a:r>
            <a:endParaRPr/>
          </a:p>
        </p:txBody>
      </p:sp>
      <p:sp>
        <p:nvSpPr>
          <p:cNvPr id="656" name="Google Shape;656;p48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4</a:t>
            </a:r>
            <a:endParaRPr/>
          </a:p>
        </p:txBody>
      </p:sp>
      <p:sp>
        <p:nvSpPr>
          <p:cNvPr id="657" name="Google Shape;657;p48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Claire Dubois</a:t>
            </a:r>
            <a:endParaRPr/>
          </a:p>
        </p:txBody>
      </p:sp>
      <p:sp>
        <p:nvSpPr>
          <p:cNvPr id="658" name="Google Shape;658;p48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5</a:t>
            </a:r>
            <a:endParaRPr/>
          </a:p>
        </p:txBody>
      </p:sp>
      <p:sp>
        <p:nvSpPr>
          <p:cNvPr id="659" name="Google Shape;659;p48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1</a:t>
            </a:r>
            <a:endParaRPr/>
          </a:p>
        </p:txBody>
      </p:sp>
      <p:sp>
        <p:nvSpPr>
          <p:cNvPr id="660" name="Google Shape;660;p48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661" name="Google Shape;661;p48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662" name="Google Shape;662;p48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663" name="Google Shape;663;p48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664" name="Google Shape;664;p48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665" name="Google Shape;665;p48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Too many customer questions reach the team after go-live, raising cost-to-serve.</a:t>
            </a:r>
            <a:endParaRPr/>
          </a:p>
        </p:txBody>
      </p:sp>
      <p:sp>
        <p:nvSpPr>
          <p:cNvPr id="666" name="Google Shape;666;p48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RevOps data is fragmented, making it hard to connect product usage with renewal risk.</a:t>
            </a:r>
            <a:endParaRPr/>
          </a:p>
        </p:txBody>
      </p:sp>
      <p:sp>
        <p:nvSpPr>
          <p:cNvPr id="667" name="Google Shape;667;p48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Security reviews slow down pilots when documentation is incomplete or hard to access.</a:t>
            </a:r>
            <a:endParaRPr/>
          </a:p>
        </p:txBody>
      </p:sp>
      <p:sp>
        <p:nvSpPr>
          <p:cNvPr id="668" name="Google Shape;668;p48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Regional teams translate content manually, which delays launches and creates drift.</a:t>
            </a:r>
            <a:endParaRPr/>
          </a:p>
        </p:txBody>
      </p:sp>
      <p:sp>
        <p:nvSpPr>
          <p:cNvPr id="669" name="Google Shape;669;p48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Managers lack a clean success score to identify accounts ready for expansion.</a:t>
            </a:r>
            <a:endParaRPr/>
          </a:p>
        </p:txBody>
      </p:sp>
      <p:sp>
        <p:nvSpPr>
          <p:cNvPr id="670" name="Google Shape;670;p48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Customer Success Manager who wants healthier accounts, faster adoption, and fewer escalations.</a:t>
            </a:r>
            <a:endParaRPr/>
          </a:p>
        </p:txBody>
      </p:sp>
      <p:sp>
        <p:nvSpPr>
          <p:cNvPr id="671" name="Google Shape;671;p48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RevOps Director focused on forecast accuracy, expansion signals, and standardized reporting.</a:t>
            </a:r>
            <a:endParaRPr/>
          </a:p>
        </p:txBody>
      </p:sp>
      <p:sp>
        <p:nvSpPr>
          <p:cNvPr id="672" name="Google Shape;672;p48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IT Security Manager who needs access control, auditability, and clear data handling policies.</a:t>
            </a:r>
            <a:endParaRPr/>
          </a:p>
        </p:txBody>
      </p:sp>
      <p:sp>
        <p:nvSpPr>
          <p:cNvPr id="673" name="Google Shape;673;p48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Regional Enablement Lead aiming for reusable launch kits and consistent messaging across markets.</a:t>
            </a:r>
            <a:endParaRPr/>
          </a:p>
        </p:txBody>
      </p:sp>
      <p:sp>
        <p:nvSpPr>
          <p:cNvPr id="674" name="Google Shape;674;p48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VP Customer Experience who wants a simple executive view of retention, risk, and growth potential.</a:t>
            </a:r>
            <a:endParaRPr/>
          </a:p>
        </p:txBody>
      </p:sp>
      <p:cxnSp>
        <p:nvCxnSpPr>
          <p:cNvPr id="675" name="Google Shape;675;p48"/>
          <p:cNvCxnSpPr/>
          <p:nvPr/>
        </p:nvCxnSpPr>
        <p:spPr>
          <a:xfrm rot="10800000">
            <a:off x="7900" y="2482456"/>
            <a:ext cx="912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p48"/>
          <p:cNvCxnSpPr/>
          <p:nvPr/>
        </p:nvCxnSpPr>
        <p:spPr>
          <a:xfrm rot="10800000">
            <a:off x="7050" y="1048156"/>
            <a:ext cx="912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p48"/>
          <p:cNvCxnSpPr/>
          <p:nvPr/>
        </p:nvCxnSpPr>
        <p:spPr>
          <a:xfrm rot="10800000">
            <a:off x="7900" y="2482456"/>
            <a:ext cx="912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9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 from existing pilot accounts.</a:t>
            </a:r>
            <a:endParaRPr/>
          </a:p>
        </p:txBody>
      </p:sp>
      <p:sp>
        <p:nvSpPr>
          <p:cNvPr id="683" name="Google Shape;683;p49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Partner-sourced pipeline from agencies and consultants.</a:t>
            </a:r>
            <a:endParaRPr/>
          </a:p>
        </p:txBody>
      </p:sp>
      <p:sp>
        <p:nvSpPr>
          <p:cNvPr id="684" name="Google Shape;684;p49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Germany launch.</a:t>
            </a:r>
            <a:endParaRPr/>
          </a:p>
        </p:txBody>
      </p:sp>
      <p:sp>
        <p:nvSpPr>
          <p:cNvPr id="685" name="Google Shape;685;p49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Spain launch.</a:t>
            </a:r>
            <a:endParaRPr/>
          </a:p>
        </p:txBody>
      </p:sp>
      <p:sp>
        <p:nvSpPr>
          <p:cNvPr id="686" name="Google Shape;686;p49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quarterly upsell value per eligible account.</a:t>
            </a:r>
            <a:endParaRPr/>
          </a:p>
        </p:txBody>
      </p:sp>
      <p:sp>
        <p:nvSpPr>
          <p:cNvPr id="687" name="Google Shape;687;p49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annual savings from reduced manual onboarding effort.</a:t>
            </a:r>
            <a:endParaRPr/>
          </a:p>
        </p:txBody>
      </p:sp>
      <p:sp>
        <p:nvSpPr>
          <p:cNvPr id="688" name="Google Shape;688;p49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$1.9M</a:t>
            </a:r>
            <a:endParaRPr/>
          </a:p>
        </p:txBody>
      </p:sp>
      <p:sp>
        <p:nvSpPr>
          <p:cNvPr id="689" name="Google Shape;689;p49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$0.8M</a:t>
            </a:r>
            <a:endParaRPr/>
          </a:p>
        </p:txBody>
      </p:sp>
      <p:sp>
        <p:nvSpPr>
          <p:cNvPr id="690" name="Google Shape;690;p49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$1.1M</a:t>
            </a:r>
            <a:endParaRPr/>
          </a:p>
        </p:txBody>
      </p:sp>
      <p:sp>
        <p:nvSpPr>
          <p:cNvPr id="691" name="Google Shape;691;p49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$0.9M</a:t>
            </a:r>
            <a:endParaRPr/>
          </a:p>
        </p:txBody>
      </p:sp>
      <p:sp>
        <p:nvSpPr>
          <p:cNvPr id="692" name="Google Shape;692;p49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$24K</a:t>
            </a:r>
            <a:endParaRPr/>
          </a:p>
        </p:txBody>
      </p:sp>
      <p:sp>
        <p:nvSpPr>
          <p:cNvPr id="693" name="Google Shape;693;p49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$180K</a:t>
            </a:r>
            <a:endParaRPr/>
          </a:p>
        </p:txBody>
      </p:sp>
      <p:sp>
        <p:nvSpPr>
          <p:cNvPr id="694" name="Google Shape;694;p49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</a:t>
            </a:r>
            <a:endParaRPr/>
          </a:p>
        </p:txBody>
      </p:sp>
      <p:sp>
        <p:nvSpPr>
          <p:cNvPr id="695" name="Google Shape;695;p49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 pipeline</a:t>
            </a:r>
            <a:endParaRPr/>
          </a:p>
        </p:txBody>
      </p:sp>
      <p:sp>
        <p:nvSpPr>
          <p:cNvPr id="696" name="Google Shape;696;p49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pipeline</a:t>
            </a:r>
            <a:endParaRPr/>
          </a:p>
        </p:txBody>
      </p:sp>
      <p:sp>
        <p:nvSpPr>
          <p:cNvPr id="697" name="Google Shape;697;p49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Spain pipeline</a:t>
            </a:r>
            <a:endParaRPr/>
          </a:p>
        </p:txBody>
      </p:sp>
      <p:sp>
        <p:nvSpPr>
          <p:cNvPr id="698" name="Google Shape;698;p49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Avg upsell</a:t>
            </a:r>
            <a:endParaRPr/>
          </a:p>
        </p:txBody>
      </p:sp>
      <p:sp>
        <p:nvSpPr>
          <p:cNvPr id="699" name="Google Shape;699;p49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Annual labor savings</a:t>
            </a:r>
            <a:endParaRPr/>
          </a:p>
        </p:txBody>
      </p:sp>
      <p:sp>
        <p:nvSpPr>
          <p:cNvPr id="700" name="Google Shape;700;p4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Projected results</a:t>
            </a:r>
            <a:endParaRPr/>
          </a:p>
        </p:txBody>
      </p:sp>
      <p:sp>
        <p:nvSpPr>
          <p:cNvPr id="701" name="Google Shape;701;p4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METRICS</a:t>
            </a:r>
            <a:endParaRPr/>
          </a:p>
        </p:txBody>
      </p:sp>
      <p:cxnSp>
        <p:nvCxnSpPr>
          <p:cNvPr id="702" name="Google Shape;702;p49"/>
          <p:cNvCxnSpPr/>
          <p:nvPr/>
        </p:nvCxnSpPr>
        <p:spPr>
          <a:xfrm rot="10800000">
            <a:off x="122" y="14023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49"/>
          <p:cNvCxnSpPr/>
          <p:nvPr/>
        </p:nvCxnSpPr>
        <p:spPr>
          <a:xfrm rot="10800000">
            <a:off x="2700" y="19732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49"/>
          <p:cNvCxnSpPr/>
          <p:nvPr/>
        </p:nvCxnSpPr>
        <p:spPr>
          <a:xfrm rot="10800000">
            <a:off x="122" y="25515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5" name="Google Shape;705;p49"/>
          <p:cNvCxnSpPr/>
          <p:nvPr/>
        </p:nvCxnSpPr>
        <p:spPr>
          <a:xfrm rot="10800000">
            <a:off x="2700" y="31224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49"/>
          <p:cNvCxnSpPr/>
          <p:nvPr/>
        </p:nvCxnSpPr>
        <p:spPr>
          <a:xfrm rot="10800000">
            <a:off x="122" y="36933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49"/>
          <p:cNvCxnSpPr/>
          <p:nvPr/>
        </p:nvCxnSpPr>
        <p:spPr>
          <a:xfrm rot="10800000">
            <a:off x="2700" y="42642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3" name="Google Shape;713;p5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4" name="Google Shape;714;p5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5" name="Google Shape;715;p5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716" name="Google Shape;716;p50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7" name="Google Shape;717;p50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8" name="Google Shape;718;p50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p50"/>
          <p:cNvCxnSpPr/>
          <p:nvPr/>
        </p:nvCxnSpPr>
        <p:spPr>
          <a:xfrm rot="10800000">
            <a:off x="-2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0" name="Google Shape;720;p50"/>
          <p:cNvCxnSpPr/>
          <p:nvPr/>
        </p:nvCxnSpPr>
        <p:spPr>
          <a:xfrm rot="10800000">
            <a:off x="406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1" name="Google Shape;721;p50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 timeline</a:t>
            </a:r>
            <a:endParaRPr/>
          </a:p>
        </p:txBody>
      </p:sp>
      <p:sp>
        <p:nvSpPr>
          <p:cNvPr id="722" name="Google Shape;722;p5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723" name="Google Shape;723;p5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724" name="Google Shape;724;p5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725" name="Google Shape;725;p50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Pilot discovery and baseline audit</a:t>
            </a:r>
            <a:endParaRPr/>
          </a:p>
        </p:txBody>
      </p:sp>
      <p:sp>
        <p:nvSpPr>
          <p:cNvPr id="726" name="Google Shape;726;p50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Executive scorecard adopted in QBRs</a:t>
            </a:r>
            <a:endParaRPr/>
          </a:p>
        </p:txBody>
      </p:sp>
      <p:sp>
        <p:nvSpPr>
          <p:cNvPr id="727" name="Google Shape;727;p50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and Spain launch package live</a:t>
            </a:r>
            <a:endParaRPr/>
          </a:p>
        </p:txBody>
      </p:sp>
      <p:sp>
        <p:nvSpPr>
          <p:cNvPr id="728" name="Google Shape;728;p50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Sales and CS enablement complete</a:t>
            </a:r>
            <a:endParaRPr/>
          </a:p>
        </p:txBody>
      </p:sp>
      <p:sp>
        <p:nvSpPr>
          <p:cNvPr id="729" name="Google Shape;729;p50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Guided Rollout beta and event tracking</a:t>
            </a:r>
            <a:endParaRPr/>
          </a:p>
        </p:txBody>
      </p:sp>
      <p:sp>
        <p:nvSpPr>
          <p:cNvPr id="730" name="Google Shape;730;p50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3</a:t>
            </a:r>
            <a:endParaRPr/>
          </a:p>
        </p:txBody>
      </p:sp>
      <p:sp>
        <p:nvSpPr>
          <p:cNvPr id="731" name="Google Shape;731;p50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1</a:t>
            </a:r>
            <a:endParaRPr/>
          </a:p>
        </p:txBody>
      </p:sp>
      <p:sp>
        <p:nvSpPr>
          <p:cNvPr id="732" name="Google Shape;732;p50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2</a:t>
            </a:r>
            <a:endParaRPr/>
          </a:p>
        </p:txBody>
      </p:sp>
      <p:sp>
        <p:nvSpPr>
          <p:cNvPr id="733" name="Google Shape;733;p50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4</a:t>
            </a:r>
            <a:endParaRPr/>
          </a:p>
        </p:txBody>
      </p:sp>
      <p:sp>
        <p:nvSpPr>
          <p:cNvPr id="734" name="Google Shape;734;p50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5</a:t>
            </a:r>
            <a:endParaRPr/>
          </a:p>
        </p:txBody>
      </p:sp>
      <p:sp>
        <p:nvSpPr>
          <p:cNvPr id="735" name="Google Shape;735;p50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 2027</a:t>
            </a:r>
            <a:endParaRPr/>
          </a:p>
        </p:txBody>
      </p:sp>
      <p:sp>
        <p:nvSpPr>
          <p:cNvPr id="736" name="Google Shape;736;p50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2026</a:t>
            </a:r>
            <a:endParaRPr/>
          </a:p>
        </p:txBody>
      </p:sp>
      <p:sp>
        <p:nvSpPr>
          <p:cNvPr id="737" name="Google Shape;737;p50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Q4 2026</a:t>
            </a:r>
            <a:endParaRPr/>
          </a:p>
        </p:txBody>
      </p:sp>
      <p:sp>
        <p:nvSpPr>
          <p:cNvPr id="738" name="Google Shape;738;p50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Q2 2027</a:t>
            </a:r>
            <a:endParaRPr/>
          </a:p>
        </p:txBody>
      </p:sp>
      <p:sp>
        <p:nvSpPr>
          <p:cNvPr id="739" name="Google Shape;739;p50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2027</a:t>
            </a:r>
            <a:endParaRPr/>
          </a:p>
        </p:txBody>
      </p:sp>
      <p:sp>
        <p:nvSpPr>
          <p:cNvPr id="740" name="Google Shape;740;p50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5" name="Google Shape;745;p51"/>
          <p:cNvCxnSpPr/>
          <p:nvPr/>
        </p:nvCxnSpPr>
        <p:spPr>
          <a:xfrm rot="10800000">
            <a:off x="17816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6" name="Google Shape;746;p51"/>
          <p:cNvCxnSpPr/>
          <p:nvPr/>
        </p:nvCxnSpPr>
        <p:spPr>
          <a:xfrm rot="10800000">
            <a:off x="-26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51"/>
          <p:cNvCxnSpPr/>
          <p:nvPr/>
        </p:nvCxnSpPr>
        <p:spPr>
          <a:xfrm rot="10800000">
            <a:off x="-26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51"/>
          <p:cNvCxnSpPr/>
          <p:nvPr/>
        </p:nvCxnSpPr>
        <p:spPr>
          <a:xfrm rot="10800000">
            <a:off x="-1994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51"/>
          <p:cNvCxnSpPr/>
          <p:nvPr/>
        </p:nvCxnSpPr>
        <p:spPr>
          <a:xfrm rot="10800000">
            <a:off x="3008738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50" name="Google Shape;750;p51"/>
          <p:cNvCxnSpPr/>
          <p:nvPr/>
        </p:nvCxnSpPr>
        <p:spPr>
          <a:xfrm rot="10800000">
            <a:off x="4235800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51" name="Google Shape;751;p51"/>
          <p:cNvCxnSpPr/>
          <p:nvPr/>
        </p:nvCxnSpPr>
        <p:spPr>
          <a:xfrm rot="10800000">
            <a:off x="5462825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52" name="Google Shape;752;p51"/>
          <p:cNvCxnSpPr/>
          <p:nvPr/>
        </p:nvCxnSpPr>
        <p:spPr>
          <a:xfrm rot="10800000">
            <a:off x="668992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53" name="Google Shape;753;p51"/>
          <p:cNvCxnSpPr/>
          <p:nvPr/>
        </p:nvCxnSpPr>
        <p:spPr>
          <a:xfrm rot="10800000">
            <a:off x="79169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54" name="Google Shape;754;p51"/>
          <p:cNvCxnSpPr/>
          <p:nvPr/>
        </p:nvCxnSpPr>
        <p:spPr>
          <a:xfrm rot="10800000">
            <a:off x="-162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51"/>
          <p:cNvCxnSpPr/>
          <p:nvPr/>
        </p:nvCxnSpPr>
        <p:spPr>
          <a:xfrm rot="10800000">
            <a:off x="-162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6" name="Google Shape;756;p51"/>
          <p:cNvGrpSpPr/>
          <p:nvPr/>
        </p:nvGrpSpPr>
        <p:grpSpPr>
          <a:xfrm>
            <a:off x="2110413" y="1867325"/>
            <a:ext cx="6804512" cy="3025375"/>
            <a:chOff x="2110413" y="1867325"/>
            <a:chExt cx="6804512" cy="3025375"/>
          </a:xfrm>
        </p:grpSpPr>
        <p:sp>
          <p:nvSpPr>
            <p:cNvPr id="757" name="Google Shape;757;p51"/>
            <p:cNvSpPr/>
            <p:nvPr/>
          </p:nvSpPr>
          <p:spPr>
            <a:xfrm>
              <a:off x="2110413" y="1867325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3430550" y="2544150"/>
              <a:ext cx="49407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9" name="Google Shape;759;p51"/>
            <p:cNvSpPr/>
            <p:nvPr/>
          </p:nvSpPr>
          <p:spPr>
            <a:xfrm>
              <a:off x="4160426" y="3218850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60" name="Google Shape;760;p51"/>
            <p:cNvSpPr/>
            <p:nvPr/>
          </p:nvSpPr>
          <p:spPr>
            <a:xfrm>
              <a:off x="2345038" y="3898350"/>
              <a:ext cx="36402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61" name="Google Shape;761;p51"/>
            <p:cNvSpPr/>
            <p:nvPr/>
          </p:nvSpPr>
          <p:spPr>
            <a:xfrm>
              <a:off x="7126325" y="4622700"/>
              <a:ext cx="17886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62" name="Google Shape;762;p5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763" name="Google Shape;763;p5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764" name="Google Shape;764;p5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765" name="Google Shape;765;p51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6</a:t>
            </a:r>
            <a:endParaRPr/>
          </a:p>
        </p:txBody>
      </p:sp>
      <p:sp>
        <p:nvSpPr>
          <p:cNvPr id="766" name="Google Shape;766;p51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5</a:t>
            </a:r>
            <a:endParaRPr/>
          </a:p>
        </p:txBody>
      </p:sp>
      <p:sp>
        <p:nvSpPr>
          <p:cNvPr id="767" name="Google Shape;767;p51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4</a:t>
            </a:r>
            <a:endParaRPr/>
          </a:p>
        </p:txBody>
      </p:sp>
      <p:sp>
        <p:nvSpPr>
          <p:cNvPr id="768" name="Google Shape;768;p51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3</a:t>
            </a:r>
            <a:endParaRPr/>
          </a:p>
        </p:txBody>
      </p:sp>
      <p:sp>
        <p:nvSpPr>
          <p:cNvPr id="769" name="Google Shape;769;p51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2</a:t>
            </a:r>
            <a:endParaRPr/>
          </a:p>
        </p:txBody>
      </p:sp>
      <p:sp>
        <p:nvSpPr>
          <p:cNvPr id="770" name="Google Shape;770;p51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1</a:t>
            </a:r>
            <a:endParaRPr/>
          </a:p>
        </p:txBody>
      </p:sp>
      <p:sp>
        <p:nvSpPr>
          <p:cNvPr id="771" name="Google Shape;771;p51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n" sz="4000"/>
              <a:t>Gantt Chart</a:t>
            </a:r>
            <a:endParaRPr/>
          </a:p>
        </p:txBody>
      </p:sp>
      <p:sp>
        <p:nvSpPr>
          <p:cNvPr id="772" name="Google Shape;772;p51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Interview pilot customers and map onboarding steps</a:t>
            </a:r>
            <a:endParaRPr/>
          </a:p>
        </p:txBody>
      </p:sp>
      <p:sp>
        <p:nvSpPr>
          <p:cNvPr id="773" name="Google Shape;773;p51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Define gold-set questions and evaluation workflow</a:t>
            </a:r>
            <a:endParaRPr/>
          </a:p>
        </p:txBody>
      </p:sp>
      <p:sp>
        <p:nvSpPr>
          <p:cNvPr id="774" name="Google Shape;774;p51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Connect CRM and help-center data sources</a:t>
            </a:r>
            <a:endParaRPr/>
          </a:p>
        </p:txBody>
      </p:sp>
      <p:sp>
        <p:nvSpPr>
          <p:cNvPr id="775" name="Google Shape;775;p51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Prepare multilingual site pages and case study assets</a:t>
            </a:r>
            <a:endParaRPr/>
          </a:p>
        </p:txBody>
      </p:sp>
      <p:sp>
        <p:nvSpPr>
          <p:cNvPr id="776" name="Google Shape;776;p51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Train Sales and CS on the launch narrative</a:t>
            </a:r>
            <a:endParaRPr/>
          </a:p>
        </p:txBody>
      </p:sp>
      <p:sp>
        <p:nvSpPr>
          <p:cNvPr id="777" name="Google Shape;777;p5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